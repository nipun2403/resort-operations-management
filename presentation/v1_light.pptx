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8A84E"/>
          </a:solidFill>
          <a:ln/>
        </p:spPr>
      </p:sp>
      <p:sp>
        <p:nvSpPr>
          <p:cNvPr id="3" name="Shape 1"/>
          <p:cNvSpPr/>
          <p:nvPr/>
        </p:nvSpPr>
        <p:spPr>
          <a:xfrm>
            <a:off x="36576" y="36576"/>
            <a:ext cx="9070848" cy="5070348"/>
          </a:xfrm>
          <a:prstGeom prst="rect">
            <a:avLst/>
          </a:prstGeom>
          <a:solidFill>
            <a:srgbClr val="FDFBF7"/>
          </a:solidFill>
          <a:ln/>
        </p:spPr>
      </p:sp>
      <p:sp>
        <p:nvSpPr>
          <p:cNvPr id="4" name="Text 2"/>
          <p:cNvSpPr/>
          <p:nvPr/>
        </p:nvSpPr>
        <p:spPr>
          <a:xfrm>
            <a:off x="457200" y="914400"/>
            <a:ext cx="8229600" cy="822960"/>
          </a:xfrm>
          <a:prstGeom prst="rect">
            <a:avLst/>
          </a:prstGeom>
          <a:noFill/>
          <a:ln/>
        </p:spPr>
        <p:txBody>
          <a:bodyPr wrap="square" rtlCol="0" anchor="ctr"/>
          <a:lstStyle/>
          <a:p>
            <a:pPr algn="ctr" indent="0" marL="0">
              <a:buNone/>
            </a:pPr>
            <a:r>
              <a:rPr lang="en-US" sz="4400" b="1" dirty="0">
                <a:solidFill>
                  <a:srgbClr val="1A1A1A"/>
                </a:solidFill>
                <a:latin typeface="Georgia" pitchFamily="34" charset="0"/>
                <a:ea typeface="Georgia" pitchFamily="34" charset="-122"/>
                <a:cs typeface="Georgia" pitchFamily="34" charset="-120"/>
              </a:rPr>
              <a:t>Aetheris</a:t>
            </a:r>
            <a:endParaRPr lang="en-US" sz="4400" dirty="0"/>
          </a:p>
        </p:txBody>
      </p:sp>
      <p:sp>
        <p:nvSpPr>
          <p:cNvPr id="5" name="Text 3"/>
          <p:cNvSpPr/>
          <p:nvPr/>
        </p:nvSpPr>
        <p:spPr>
          <a:xfrm>
            <a:off x="457200" y="1691640"/>
            <a:ext cx="8229600" cy="457200"/>
          </a:xfrm>
          <a:prstGeom prst="rect">
            <a:avLst/>
          </a:prstGeom>
          <a:noFill/>
          <a:ln/>
        </p:spPr>
        <p:txBody>
          <a:bodyPr wrap="square" rtlCol="0" anchor="ctr"/>
          <a:lstStyle/>
          <a:p>
            <a:pPr algn="ctr" indent="0" marL="0">
              <a:buNone/>
            </a:pPr>
            <a:r>
              <a:rPr lang="en-US" sz="2000" dirty="0">
                <a:solidFill>
                  <a:srgbClr val="B8963E"/>
                </a:solidFill>
                <a:latin typeface="Helvetica" pitchFamily="34" charset="0"/>
                <a:ea typeface="Helvetica" pitchFamily="34" charset="-122"/>
                <a:cs typeface="Helvetica" pitchFamily="34" charset="-120"/>
              </a:rPr>
              <a:t>The Unified Hotel Operating System</a:t>
            </a:r>
            <a:endParaRPr lang="en-US" sz="2000" dirty="0"/>
          </a:p>
        </p:txBody>
      </p:sp>
      <p:sp>
        <p:nvSpPr>
          <p:cNvPr id="6" name="Shape 4"/>
          <p:cNvSpPr/>
          <p:nvPr/>
        </p:nvSpPr>
        <p:spPr>
          <a:xfrm>
            <a:off x="2743200" y="2194560"/>
            <a:ext cx="3657600" cy="27432"/>
          </a:xfrm>
          <a:prstGeom prst="rect">
            <a:avLst/>
          </a:prstGeom>
          <a:solidFill>
            <a:srgbClr val="C8A84E"/>
          </a:solidFill>
          <a:ln/>
        </p:spPr>
      </p:sp>
      <p:sp>
        <p:nvSpPr>
          <p:cNvPr id="7" name="Text 5"/>
          <p:cNvSpPr/>
          <p:nvPr/>
        </p:nvSpPr>
        <p:spPr>
          <a:xfrm>
            <a:off x="457200" y="2377440"/>
            <a:ext cx="8229600" cy="320040"/>
          </a:xfrm>
          <a:prstGeom prst="rect">
            <a:avLst/>
          </a:prstGeom>
          <a:noFill/>
          <a:ln/>
        </p:spPr>
        <p:txBody>
          <a:bodyPr wrap="square" rtlCol="0" anchor="ctr"/>
          <a:lstStyle/>
          <a:p>
            <a:pPr algn="ctr" indent="0" marL="0">
              <a:buNone/>
            </a:pPr>
            <a:r>
              <a:rPr lang="en-US" sz="1100" dirty="0">
                <a:solidFill>
                  <a:srgbClr val="4A4A4A"/>
                </a:solidFill>
                <a:latin typeface="Helvetica" pitchFamily="34" charset="0"/>
                <a:ea typeface="Helvetica" pitchFamily="34" charset="-122"/>
                <a:cs typeface="Helvetica" pitchFamily="34" charset="-120"/>
              </a:rPr>
              <a:t>SECURITY-FIRST ARCHITECTURE  •  AI-POWERED OPERATIONS  •  REAL-TIME COORDINATION</a:t>
            </a:r>
            <a:endParaRPr lang="en-US" sz="1100" dirty="0"/>
          </a:p>
        </p:txBody>
      </p:sp>
      <p:sp>
        <p:nvSpPr>
          <p:cNvPr id="8" name="Text 6"/>
          <p:cNvSpPr/>
          <p:nvPr/>
        </p:nvSpPr>
        <p:spPr>
          <a:xfrm>
            <a:off x="457200" y="3200400"/>
            <a:ext cx="8229600" cy="320040"/>
          </a:xfrm>
          <a:prstGeom prst="rect">
            <a:avLst/>
          </a:prstGeom>
          <a:noFill/>
          <a:ln/>
        </p:spPr>
        <p:txBody>
          <a:bodyPr wrap="square" rtlCol="0" anchor="ctr"/>
          <a:lstStyle/>
          <a:p>
            <a:pPr algn="ctr" indent="0" marL="0">
              <a:buNone/>
            </a:pPr>
            <a:r>
              <a:rPr lang="en-US" sz="1200" dirty="0">
                <a:solidFill>
                  <a:srgbClr val="4A4A4A"/>
                </a:solidFill>
                <a:latin typeface="Helvetica" pitchFamily="34" charset="0"/>
                <a:ea typeface="Helvetica" pitchFamily="34" charset="-122"/>
                <a:cs typeface="Helvetica" pitchFamily="34" charset="-120"/>
              </a:rPr>
              <a:t>From Magic Byte Validation to LLM-Powered Concierge — A Full-Stack Engineering Showcase</a:t>
            </a:r>
            <a:endParaRPr lang="en-US" sz="1200" dirty="0"/>
          </a:p>
        </p:txBody>
      </p:sp>
      <p:sp>
        <p:nvSpPr>
          <p:cNvPr id="9" name="Text 7"/>
          <p:cNvSpPr/>
          <p:nvPr/>
        </p:nvSpPr>
        <p:spPr>
          <a:xfrm>
            <a:off x="457200" y="4389120"/>
            <a:ext cx="8229600" cy="274320"/>
          </a:xfrm>
          <a:prstGeom prst="rect">
            <a:avLst/>
          </a:prstGeom>
          <a:noFill/>
          <a:ln/>
        </p:spPr>
        <p:txBody>
          <a:bodyPr wrap="square" rtlCol="0" anchor="ctr"/>
          <a:lstStyle/>
          <a:p>
            <a:pPr algn="ctr" indent="0" marL="0">
              <a:buNone/>
            </a:pPr>
            <a:r>
              <a:rPr lang="en-US" sz="900" dirty="0">
                <a:solidFill>
                  <a:srgbClr val="E8E4DC"/>
                </a:solidFill>
                <a:latin typeface="Helvetica" pitchFamily="34" charset="0"/>
                <a:ea typeface="Helvetica" pitchFamily="34" charset="-122"/>
                <a:cs typeface="Helvetica" pitchFamily="34" charset="-120"/>
              </a:rPr>
              <a:t>CONFIDENTIAL &amp; PROPRIETARY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From Problems to Solutions</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Aetheris Platform Architecture &amp; Implementation Agenda</a:t>
            </a:r>
            <a:endParaRPr lang="en-US" sz="1200" dirty="0"/>
          </a:p>
        </p:txBody>
      </p:sp>
      <p:sp>
        <p:nvSpPr>
          <p:cNvPr id="7" name="Shape 5"/>
          <p:cNvSpPr/>
          <p:nvPr/>
        </p:nvSpPr>
        <p:spPr>
          <a:xfrm>
            <a:off x="457200" y="1143000"/>
            <a:ext cx="320040" cy="320040"/>
          </a:xfrm>
          <a:prstGeom prst="ellipse">
            <a:avLst/>
          </a:prstGeom>
          <a:solidFill>
            <a:srgbClr val="C8A84E"/>
          </a:solidFill>
          <a:ln/>
        </p:spPr>
      </p:sp>
      <p:sp>
        <p:nvSpPr>
          <p:cNvPr id="8" name="Text 6"/>
          <p:cNvSpPr/>
          <p:nvPr/>
        </p:nvSpPr>
        <p:spPr>
          <a:xfrm>
            <a:off x="457200" y="114300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1</a:t>
            </a:r>
            <a:endParaRPr lang="en-US" sz="1200" dirty="0"/>
          </a:p>
        </p:txBody>
      </p:sp>
      <p:sp>
        <p:nvSpPr>
          <p:cNvPr id="9" name="Text 7"/>
          <p:cNvSpPr/>
          <p:nvPr/>
        </p:nvSpPr>
        <p:spPr>
          <a:xfrm>
            <a:off x="868680" y="109728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Why Hotel Software Fails — The Real Problems</a:t>
            </a:r>
            <a:endParaRPr lang="en-US" sz="1100" dirty="0"/>
          </a:p>
        </p:txBody>
      </p:sp>
      <p:sp>
        <p:nvSpPr>
          <p:cNvPr id="10" name="Shape 8"/>
          <p:cNvSpPr/>
          <p:nvPr/>
        </p:nvSpPr>
        <p:spPr>
          <a:xfrm>
            <a:off x="457200" y="1783080"/>
            <a:ext cx="320040" cy="320040"/>
          </a:xfrm>
          <a:prstGeom prst="ellipse">
            <a:avLst/>
          </a:prstGeom>
          <a:solidFill>
            <a:srgbClr val="C8A84E"/>
          </a:solidFill>
          <a:ln/>
        </p:spPr>
      </p:sp>
      <p:sp>
        <p:nvSpPr>
          <p:cNvPr id="11" name="Text 9"/>
          <p:cNvSpPr/>
          <p:nvPr/>
        </p:nvSpPr>
        <p:spPr>
          <a:xfrm>
            <a:off x="457200" y="178308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2</a:t>
            </a:r>
            <a:endParaRPr lang="en-US" sz="1200" dirty="0"/>
          </a:p>
        </p:txBody>
      </p:sp>
      <p:sp>
        <p:nvSpPr>
          <p:cNvPr id="12" name="Text 10"/>
          <p:cNvSpPr/>
          <p:nvPr/>
        </p:nvSpPr>
        <p:spPr>
          <a:xfrm>
            <a:off x="868680" y="173736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Aetheris Platform Architecture</a:t>
            </a:r>
            <a:endParaRPr lang="en-US" sz="1100" dirty="0"/>
          </a:p>
        </p:txBody>
      </p:sp>
      <p:sp>
        <p:nvSpPr>
          <p:cNvPr id="13" name="Shape 11"/>
          <p:cNvSpPr/>
          <p:nvPr/>
        </p:nvSpPr>
        <p:spPr>
          <a:xfrm>
            <a:off x="457200" y="2423160"/>
            <a:ext cx="320040" cy="320040"/>
          </a:xfrm>
          <a:prstGeom prst="ellipse">
            <a:avLst/>
          </a:prstGeom>
          <a:solidFill>
            <a:srgbClr val="C8A84E"/>
          </a:solidFill>
          <a:ln/>
        </p:spPr>
      </p:sp>
      <p:sp>
        <p:nvSpPr>
          <p:cNvPr id="14" name="Text 12"/>
          <p:cNvSpPr/>
          <p:nvPr/>
        </p:nvSpPr>
        <p:spPr>
          <a:xfrm>
            <a:off x="457200" y="242316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3</a:t>
            </a:r>
            <a:endParaRPr lang="en-US" sz="1200" dirty="0"/>
          </a:p>
        </p:txBody>
      </p:sp>
      <p:sp>
        <p:nvSpPr>
          <p:cNvPr id="15" name="Text 13"/>
          <p:cNvSpPr/>
          <p:nvPr/>
        </p:nvSpPr>
        <p:spPr>
          <a:xfrm>
            <a:off x="868680" y="237744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Zero-Trust Image Upload Pipeline</a:t>
            </a:r>
            <a:endParaRPr lang="en-US" sz="1100" dirty="0"/>
          </a:p>
        </p:txBody>
      </p:sp>
      <p:sp>
        <p:nvSpPr>
          <p:cNvPr id="16" name="Shape 14"/>
          <p:cNvSpPr/>
          <p:nvPr/>
        </p:nvSpPr>
        <p:spPr>
          <a:xfrm>
            <a:off x="457200" y="3063240"/>
            <a:ext cx="320040" cy="320040"/>
          </a:xfrm>
          <a:prstGeom prst="ellipse">
            <a:avLst/>
          </a:prstGeom>
          <a:solidFill>
            <a:srgbClr val="C8A84E"/>
          </a:solidFill>
          <a:ln/>
        </p:spPr>
      </p:sp>
      <p:sp>
        <p:nvSpPr>
          <p:cNvPr id="17" name="Text 15"/>
          <p:cNvSpPr/>
          <p:nvPr/>
        </p:nvSpPr>
        <p:spPr>
          <a:xfrm>
            <a:off x="457200" y="306324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4</a:t>
            </a:r>
            <a:endParaRPr lang="en-US" sz="1200" dirty="0"/>
          </a:p>
        </p:txBody>
      </p:sp>
      <p:sp>
        <p:nvSpPr>
          <p:cNvPr id="18" name="Text 16"/>
          <p:cNvSpPr/>
          <p:nvPr/>
        </p:nvSpPr>
        <p:spPr>
          <a:xfrm>
            <a:off x="868680" y="301752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Magic Byte Validation — Content-Level Security</a:t>
            </a:r>
            <a:endParaRPr lang="en-US" sz="1100" dirty="0"/>
          </a:p>
        </p:txBody>
      </p:sp>
      <p:sp>
        <p:nvSpPr>
          <p:cNvPr id="19" name="Shape 17"/>
          <p:cNvSpPr/>
          <p:nvPr/>
        </p:nvSpPr>
        <p:spPr>
          <a:xfrm>
            <a:off x="457200" y="3703320"/>
            <a:ext cx="320040" cy="320040"/>
          </a:xfrm>
          <a:prstGeom prst="ellipse">
            <a:avLst/>
          </a:prstGeom>
          <a:solidFill>
            <a:srgbClr val="C8A84E"/>
          </a:solidFill>
          <a:ln/>
        </p:spPr>
      </p:sp>
      <p:sp>
        <p:nvSpPr>
          <p:cNvPr id="20" name="Text 18"/>
          <p:cNvSpPr/>
          <p:nvPr/>
        </p:nvSpPr>
        <p:spPr>
          <a:xfrm>
            <a:off x="457200" y="370332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5</a:t>
            </a:r>
            <a:endParaRPr lang="en-US" sz="1200" dirty="0"/>
          </a:p>
        </p:txBody>
      </p:sp>
      <p:sp>
        <p:nvSpPr>
          <p:cNvPr id="21" name="Text 19"/>
          <p:cNvSpPr/>
          <p:nvPr/>
        </p:nvSpPr>
        <p:spPr>
          <a:xfrm>
            <a:off x="868680" y="365760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Async Architecture &amp; Multi-Tier Cleanup</a:t>
            </a:r>
            <a:endParaRPr lang="en-US" sz="1100" dirty="0"/>
          </a:p>
        </p:txBody>
      </p:sp>
      <p:sp>
        <p:nvSpPr>
          <p:cNvPr id="22" name="Shape 20"/>
          <p:cNvSpPr/>
          <p:nvPr/>
        </p:nvSpPr>
        <p:spPr>
          <a:xfrm>
            <a:off x="4754880" y="1143000"/>
            <a:ext cx="320040" cy="320040"/>
          </a:xfrm>
          <a:prstGeom prst="ellipse">
            <a:avLst/>
          </a:prstGeom>
          <a:solidFill>
            <a:srgbClr val="C8A84E"/>
          </a:solidFill>
          <a:ln/>
        </p:spPr>
      </p:sp>
      <p:sp>
        <p:nvSpPr>
          <p:cNvPr id="23" name="Text 21"/>
          <p:cNvSpPr/>
          <p:nvPr/>
        </p:nvSpPr>
        <p:spPr>
          <a:xfrm>
            <a:off x="4754880" y="114300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6</a:t>
            </a:r>
            <a:endParaRPr lang="en-US" sz="1200" dirty="0"/>
          </a:p>
        </p:txBody>
      </p:sp>
      <p:sp>
        <p:nvSpPr>
          <p:cNvPr id="24" name="Text 22"/>
          <p:cNvSpPr/>
          <p:nvPr/>
        </p:nvSpPr>
        <p:spPr>
          <a:xfrm>
            <a:off x="5166360" y="109728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AI Concierge — Real Action Execution</a:t>
            </a:r>
            <a:endParaRPr lang="en-US" sz="1100" dirty="0"/>
          </a:p>
        </p:txBody>
      </p:sp>
      <p:sp>
        <p:nvSpPr>
          <p:cNvPr id="25" name="Shape 23"/>
          <p:cNvSpPr/>
          <p:nvPr/>
        </p:nvSpPr>
        <p:spPr>
          <a:xfrm>
            <a:off x="4754880" y="1783080"/>
            <a:ext cx="320040" cy="320040"/>
          </a:xfrm>
          <a:prstGeom prst="ellipse">
            <a:avLst/>
          </a:prstGeom>
          <a:solidFill>
            <a:srgbClr val="C8A84E"/>
          </a:solidFill>
          <a:ln/>
        </p:spPr>
      </p:sp>
      <p:sp>
        <p:nvSpPr>
          <p:cNvPr id="26" name="Text 24"/>
          <p:cNvSpPr/>
          <p:nvPr/>
        </p:nvSpPr>
        <p:spPr>
          <a:xfrm>
            <a:off x="4754880" y="178308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7</a:t>
            </a:r>
            <a:endParaRPr lang="en-US" sz="1200" dirty="0"/>
          </a:p>
        </p:txBody>
      </p:sp>
      <p:sp>
        <p:nvSpPr>
          <p:cNvPr id="27" name="Text 25"/>
          <p:cNvSpPr/>
          <p:nvPr/>
        </p:nvSpPr>
        <p:spPr>
          <a:xfrm>
            <a:off x="5166360" y="173736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The Proposal Pattern — Taming LLM Hallucination</a:t>
            </a:r>
            <a:endParaRPr lang="en-US" sz="1100" dirty="0"/>
          </a:p>
        </p:txBody>
      </p:sp>
      <p:sp>
        <p:nvSpPr>
          <p:cNvPr id="28" name="Shape 26"/>
          <p:cNvSpPr/>
          <p:nvPr/>
        </p:nvSpPr>
        <p:spPr>
          <a:xfrm>
            <a:off x="4754880" y="2423160"/>
            <a:ext cx="320040" cy="320040"/>
          </a:xfrm>
          <a:prstGeom prst="ellipse">
            <a:avLst/>
          </a:prstGeom>
          <a:solidFill>
            <a:srgbClr val="C8A84E"/>
          </a:solidFill>
          <a:ln/>
        </p:spPr>
      </p:sp>
      <p:sp>
        <p:nvSpPr>
          <p:cNvPr id="29" name="Text 27"/>
          <p:cNvSpPr/>
          <p:nvPr/>
        </p:nvSpPr>
        <p:spPr>
          <a:xfrm>
            <a:off x="4754880" y="242316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8</a:t>
            </a:r>
            <a:endParaRPr lang="en-US" sz="1200" dirty="0"/>
          </a:p>
        </p:txBody>
      </p:sp>
      <p:sp>
        <p:nvSpPr>
          <p:cNvPr id="30" name="Text 28"/>
          <p:cNvSpPr/>
          <p:nvPr/>
        </p:nvSpPr>
        <p:spPr>
          <a:xfrm>
            <a:off x="5166360" y="237744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Real-Time Operations — SignalR Ecosystem</a:t>
            </a:r>
            <a:endParaRPr lang="en-US" sz="1100" dirty="0"/>
          </a:p>
        </p:txBody>
      </p:sp>
      <p:sp>
        <p:nvSpPr>
          <p:cNvPr id="31" name="Shape 29"/>
          <p:cNvSpPr/>
          <p:nvPr/>
        </p:nvSpPr>
        <p:spPr>
          <a:xfrm>
            <a:off x="4754880" y="3063240"/>
            <a:ext cx="320040" cy="320040"/>
          </a:xfrm>
          <a:prstGeom prst="ellipse">
            <a:avLst/>
          </a:prstGeom>
          <a:solidFill>
            <a:srgbClr val="C8A84E"/>
          </a:solidFill>
          <a:ln/>
        </p:spPr>
      </p:sp>
      <p:sp>
        <p:nvSpPr>
          <p:cNvPr id="32" name="Text 30"/>
          <p:cNvSpPr/>
          <p:nvPr/>
        </p:nvSpPr>
        <p:spPr>
          <a:xfrm>
            <a:off x="4754880" y="306324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9</a:t>
            </a:r>
            <a:endParaRPr lang="en-US" sz="1200" dirty="0"/>
          </a:p>
        </p:txBody>
      </p:sp>
      <p:sp>
        <p:nvSpPr>
          <p:cNvPr id="33" name="Text 31"/>
          <p:cNvSpPr/>
          <p:nvPr/>
        </p:nvSpPr>
        <p:spPr>
          <a:xfrm>
            <a:off x="5166360" y="301752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Engineering Foundations — Idempotency, Audit, RBAC, Quality</a:t>
            </a:r>
            <a:endParaRPr lang="en-US" sz="1100" dirty="0"/>
          </a:p>
        </p:txBody>
      </p:sp>
      <p:sp>
        <p:nvSpPr>
          <p:cNvPr id="34" name="Shape 32"/>
          <p:cNvSpPr/>
          <p:nvPr/>
        </p:nvSpPr>
        <p:spPr>
          <a:xfrm>
            <a:off x="4754880" y="3703320"/>
            <a:ext cx="320040" cy="320040"/>
          </a:xfrm>
          <a:prstGeom prst="ellipse">
            <a:avLst/>
          </a:prstGeom>
          <a:solidFill>
            <a:srgbClr val="C8A84E"/>
          </a:solidFill>
          <a:ln/>
        </p:spPr>
      </p:sp>
      <p:sp>
        <p:nvSpPr>
          <p:cNvPr id="35" name="Text 33"/>
          <p:cNvSpPr/>
          <p:nvPr/>
        </p:nvSpPr>
        <p:spPr>
          <a:xfrm>
            <a:off x="4754880" y="3703320"/>
            <a:ext cx="320040" cy="320040"/>
          </a:xfrm>
          <a:prstGeom prst="rect">
            <a:avLst/>
          </a:prstGeom>
          <a:noFill/>
          <a:ln/>
        </p:spPr>
        <p:txBody>
          <a:bodyPr wrap="square" rtlCol="0" anchor="ctr"/>
          <a:lstStyle/>
          <a:p>
            <a:pPr algn="ctr" indent="0" marL="0">
              <a:buNone/>
            </a:pPr>
            <a:r>
              <a:rPr lang="en-US" sz="1200" b="1" dirty="0">
                <a:solidFill>
                  <a:srgbClr val="FFFFFF"/>
                </a:solidFill>
                <a:latin typeface="Helvetica" pitchFamily="34" charset="0"/>
                <a:ea typeface="Helvetica" pitchFamily="34" charset="-122"/>
                <a:cs typeface="Helvetica" pitchFamily="34" charset="-120"/>
              </a:rPr>
              <a:t>10</a:t>
            </a:r>
            <a:endParaRPr lang="en-US" sz="1200" dirty="0"/>
          </a:p>
        </p:txBody>
      </p:sp>
      <p:sp>
        <p:nvSpPr>
          <p:cNvPr id="36" name="Text 34"/>
          <p:cNvSpPr/>
          <p:nvPr/>
        </p:nvSpPr>
        <p:spPr>
          <a:xfrm>
            <a:off x="5166360" y="3657600"/>
            <a:ext cx="3657600" cy="411480"/>
          </a:xfrm>
          <a:prstGeom prst="rect">
            <a:avLst/>
          </a:prstGeom>
          <a:noFill/>
          <a:ln/>
        </p:spPr>
        <p:txBody>
          <a:bodyPr wrap="square" rtlCol="0" anchor="ctr"/>
          <a:lstStyle/>
          <a:p>
            <a:pPr indent="0" marL="0">
              <a:buNone/>
            </a:pPr>
            <a:r>
              <a:rPr lang="en-US" sz="1100" dirty="0">
                <a:solidFill>
                  <a:srgbClr val="1A1A1A"/>
                </a:solidFill>
                <a:latin typeface="Helvetica" pitchFamily="34" charset="0"/>
                <a:ea typeface="Helvetica" pitchFamily="34" charset="-122"/>
                <a:cs typeface="Helvetica" pitchFamily="34" charset="-120"/>
              </a:rPr>
              <a:t>Business Impact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The Broken State of Hotel Tech</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100" dirty="0">
                <a:solidFill>
                  <a:srgbClr val="4A4A4A"/>
                </a:solidFill>
                <a:latin typeface="Helvetica" pitchFamily="34" charset="0"/>
                <a:ea typeface="Helvetica" pitchFamily="34" charset="-122"/>
                <a:cs typeface="Helvetica" pitchFamily="34" charset="-120"/>
              </a:rPr>
              <a:t>Most hotel software is a collection of disconnected tools held together by phone calls and spreadsheets.</a:t>
            </a:r>
            <a:endParaRPr lang="en-US" sz="1100" dirty="0"/>
          </a:p>
        </p:txBody>
      </p:sp>
      <p:sp>
        <p:nvSpPr>
          <p:cNvPr id="7" name="Shape 5"/>
          <p:cNvSpPr/>
          <p:nvPr/>
        </p:nvSpPr>
        <p:spPr>
          <a:xfrm>
            <a:off x="365760" y="1097280"/>
            <a:ext cx="8412480" cy="658368"/>
          </a:xfrm>
          <a:prstGeom prst="rect">
            <a:avLst>
              <a:gd name="adj" fmla="val 8333"/>
            </a:avLst>
          </a:prstGeom>
          <a:solidFill>
            <a:srgbClr val="FFFFFF"/>
          </a:solidFill>
          <a:ln w="9525">
            <a:solidFill>
              <a:srgbClr val="E8E4DC"/>
            </a:solidFill>
            <a:prstDash val="solid"/>
          </a:ln>
        </p:spPr>
      </p:sp>
      <p:sp>
        <p:nvSpPr>
          <p:cNvPr id="8" name="Text 6"/>
          <p:cNvSpPr/>
          <p:nvPr/>
        </p:nvSpPr>
        <p:spPr>
          <a:xfrm>
            <a:off x="502920" y="1143000"/>
            <a:ext cx="256032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Security Vulnerabilities</a:t>
            </a:r>
            <a:endParaRPr lang="en-US" sz="1100" dirty="0"/>
          </a:p>
        </p:txBody>
      </p:sp>
      <p:sp>
        <p:nvSpPr>
          <p:cNvPr id="9" name="Text 7"/>
          <p:cNvSpPr/>
          <p:nvPr/>
        </p:nvSpPr>
        <p:spPr>
          <a:xfrm>
            <a:off x="502920" y="1371600"/>
            <a:ext cx="8138160" cy="347472"/>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File uploads accept any extension — renamed malware passes through. Chatbot gets manipulated easily to give out sensitive data.</a:t>
            </a:r>
            <a:endParaRPr lang="en-US" sz="900" dirty="0"/>
          </a:p>
        </p:txBody>
      </p:sp>
      <p:sp>
        <p:nvSpPr>
          <p:cNvPr id="10" name="Shape 8"/>
          <p:cNvSpPr/>
          <p:nvPr/>
        </p:nvSpPr>
        <p:spPr>
          <a:xfrm>
            <a:off x="365760" y="1847088"/>
            <a:ext cx="8412480" cy="658368"/>
          </a:xfrm>
          <a:prstGeom prst="rect">
            <a:avLst>
              <a:gd name="adj" fmla="val 8333"/>
            </a:avLst>
          </a:prstGeom>
          <a:solidFill>
            <a:srgbClr val="FFFFFF"/>
          </a:solidFill>
          <a:ln w="9525">
            <a:solidFill>
              <a:srgbClr val="E8E4DC"/>
            </a:solidFill>
            <a:prstDash val="solid"/>
          </a:ln>
        </p:spPr>
      </p:sp>
      <p:sp>
        <p:nvSpPr>
          <p:cNvPr id="11" name="Text 9"/>
          <p:cNvSpPr/>
          <p:nvPr/>
        </p:nvSpPr>
        <p:spPr>
          <a:xfrm>
            <a:off x="502920" y="1892808"/>
            <a:ext cx="256032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No Guest Self-Service</a:t>
            </a:r>
            <a:endParaRPr lang="en-US" sz="1100" dirty="0"/>
          </a:p>
        </p:txBody>
      </p:sp>
      <p:sp>
        <p:nvSpPr>
          <p:cNvPr id="12" name="Text 10"/>
          <p:cNvSpPr/>
          <p:nvPr/>
        </p:nvSpPr>
        <p:spPr>
          <a:xfrm>
            <a:off x="502920" y="2121408"/>
            <a:ext cx="8138160" cy="347472"/>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Guests call the front desk for everything; 24/7 support is impossible. Front desk is overwhelmed handling all operations.</a:t>
            </a:r>
            <a:endParaRPr lang="en-US" sz="900" dirty="0"/>
          </a:p>
        </p:txBody>
      </p:sp>
      <p:sp>
        <p:nvSpPr>
          <p:cNvPr id="13" name="Shape 11"/>
          <p:cNvSpPr/>
          <p:nvPr/>
        </p:nvSpPr>
        <p:spPr>
          <a:xfrm>
            <a:off x="365760" y="2596896"/>
            <a:ext cx="8412480" cy="658368"/>
          </a:xfrm>
          <a:prstGeom prst="rect">
            <a:avLst>
              <a:gd name="adj" fmla="val 8333"/>
            </a:avLst>
          </a:prstGeom>
          <a:solidFill>
            <a:srgbClr val="FFFFFF"/>
          </a:solidFill>
          <a:ln w="9525">
            <a:solidFill>
              <a:srgbClr val="E8E4DC"/>
            </a:solidFill>
            <a:prstDash val="solid"/>
          </a:ln>
        </p:spPr>
      </p:sp>
      <p:sp>
        <p:nvSpPr>
          <p:cNvPr id="14" name="Text 12"/>
          <p:cNvSpPr/>
          <p:nvPr/>
        </p:nvSpPr>
        <p:spPr>
          <a:xfrm>
            <a:off x="502920" y="2642616"/>
            <a:ext cx="256032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Siloed Departments</a:t>
            </a:r>
            <a:endParaRPr lang="en-US" sz="1100" dirty="0"/>
          </a:p>
        </p:txBody>
      </p:sp>
      <p:sp>
        <p:nvSpPr>
          <p:cNvPr id="15" name="Text 13"/>
          <p:cNvSpPr/>
          <p:nvPr/>
        </p:nvSpPr>
        <p:spPr>
          <a:xfrm>
            <a:off x="502920" y="2871216"/>
            <a:ext cx="8138160" cy="347472"/>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Housekeeping doesn't know about checkout until someone calls from front desk.</a:t>
            </a:r>
            <a:endParaRPr lang="en-US" sz="900" dirty="0"/>
          </a:p>
        </p:txBody>
      </p:sp>
      <p:sp>
        <p:nvSpPr>
          <p:cNvPr id="16" name="Shape 14"/>
          <p:cNvSpPr/>
          <p:nvPr/>
        </p:nvSpPr>
        <p:spPr>
          <a:xfrm>
            <a:off x="365760" y="3346704"/>
            <a:ext cx="8412480" cy="658368"/>
          </a:xfrm>
          <a:prstGeom prst="rect">
            <a:avLst>
              <a:gd name="adj" fmla="val 8333"/>
            </a:avLst>
          </a:prstGeom>
          <a:solidFill>
            <a:srgbClr val="FFFFFF"/>
          </a:solidFill>
          <a:ln w="9525">
            <a:solidFill>
              <a:srgbClr val="E8E4DC"/>
            </a:solidFill>
            <a:prstDash val="solid"/>
          </a:ln>
        </p:spPr>
      </p:sp>
      <p:sp>
        <p:nvSpPr>
          <p:cNvPr id="17" name="Text 15"/>
          <p:cNvSpPr/>
          <p:nvPr/>
        </p:nvSpPr>
        <p:spPr>
          <a:xfrm>
            <a:off x="502920" y="3392424"/>
            <a:ext cx="256032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Fragile Engineering</a:t>
            </a:r>
            <a:endParaRPr lang="en-US" sz="1100" dirty="0"/>
          </a:p>
        </p:txBody>
      </p:sp>
      <p:sp>
        <p:nvSpPr>
          <p:cNvPr id="18" name="Text 16"/>
          <p:cNvSpPr/>
          <p:nvPr/>
        </p:nvSpPr>
        <p:spPr>
          <a:xfrm>
            <a:off x="502920" y="3621024"/>
            <a:ext cx="8138160" cy="347472"/>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No idempotency equals double-bookings. No audit trail means billing disputes are unprovable.</a:t>
            </a:r>
            <a:endParaRPr lang="en-US" sz="900" dirty="0"/>
          </a:p>
        </p:txBody>
      </p:sp>
      <p:sp>
        <p:nvSpPr>
          <p:cNvPr id="19" name="Shape 17"/>
          <p:cNvSpPr/>
          <p:nvPr/>
        </p:nvSpPr>
        <p:spPr>
          <a:xfrm>
            <a:off x="365760" y="4096512"/>
            <a:ext cx="8412480" cy="658368"/>
          </a:xfrm>
          <a:prstGeom prst="rect">
            <a:avLst>
              <a:gd name="adj" fmla="val 8333"/>
            </a:avLst>
          </a:prstGeom>
          <a:solidFill>
            <a:srgbClr val="FFFFFF"/>
          </a:solidFill>
          <a:ln w="9525">
            <a:solidFill>
              <a:srgbClr val="E8E4DC"/>
            </a:solidFill>
            <a:prstDash val="solid"/>
          </a:ln>
        </p:spPr>
      </p:sp>
      <p:sp>
        <p:nvSpPr>
          <p:cNvPr id="20" name="Text 18"/>
          <p:cNvSpPr/>
          <p:nvPr/>
        </p:nvSpPr>
        <p:spPr>
          <a:xfrm>
            <a:off x="502920" y="4142232"/>
            <a:ext cx="256032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Looks Like Enterprise Software from 2010</a:t>
            </a:r>
            <a:endParaRPr lang="en-US" sz="1100" dirty="0"/>
          </a:p>
        </p:txBody>
      </p:sp>
      <p:sp>
        <p:nvSpPr>
          <p:cNvPr id="21" name="Text 19"/>
          <p:cNvSpPr/>
          <p:nvPr/>
        </p:nvSpPr>
        <p:spPr>
          <a:xfrm>
            <a:off x="502920" y="4370832"/>
            <a:ext cx="8138160" cy="347472"/>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Bulky admin panels, flat designs, no brand identity. Guests judge your hotel by your website.</a:t>
            </a:r>
            <a:endParaRPr lang="en-US" sz="900" dirty="0"/>
          </a:p>
        </p:txBody>
      </p:sp>
      <p:sp>
        <p:nvSpPr>
          <p:cNvPr id="22" name="Text 20"/>
          <p:cNvSpPr/>
          <p:nvPr/>
        </p:nvSpPr>
        <p:spPr>
          <a:xfrm>
            <a:off x="365760" y="4640580"/>
            <a:ext cx="8412480" cy="274320"/>
          </a:xfrm>
          <a:prstGeom prst="rect">
            <a:avLst/>
          </a:prstGeom>
          <a:noFill/>
          <a:ln/>
        </p:spPr>
        <p:txBody>
          <a:bodyPr wrap="square" rtlCol="0" anchor="ctr"/>
          <a:lstStyle/>
          <a:p>
            <a:pPr algn="ctr" indent="0" marL="0">
              <a:buNone/>
            </a:pPr>
            <a:r>
              <a:rPr lang="en-US" sz="1100" i="1" dirty="0">
                <a:solidFill>
                  <a:srgbClr val="B8963E"/>
                </a:solidFill>
                <a:latin typeface="Georgia" pitchFamily="34" charset="0"/>
                <a:ea typeface="Georgia" pitchFamily="34" charset="-122"/>
                <a:cs typeface="Georgia" pitchFamily="34" charset="-120"/>
              </a:rPr>
              <a:t>"Generic hotel software manages records. Aetheris runs operations."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Aetheris — Platform Overview</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100" dirty="0">
                <a:solidFill>
                  <a:srgbClr val="4A4A4A"/>
                </a:solidFill>
                <a:latin typeface="Helvetica" pitchFamily="34" charset="0"/>
                <a:ea typeface="Helvetica" pitchFamily="34" charset="-122"/>
                <a:cs typeface="Helvetica" pitchFamily="34" charset="-120"/>
              </a:rPr>
              <a:t>Enterprise N-Tier C# and Angular Production Architecture</a:t>
            </a:r>
            <a:endParaRPr lang="en-US" sz="1100" dirty="0"/>
          </a:p>
        </p:txBody>
      </p:sp>
      <p:sp>
        <p:nvSpPr>
          <p:cNvPr id="7" name="Shape 5"/>
          <p:cNvSpPr/>
          <p:nvPr/>
        </p:nvSpPr>
        <p:spPr>
          <a:xfrm>
            <a:off x="365760" y="1005840"/>
            <a:ext cx="3657600" cy="347472"/>
          </a:xfrm>
          <a:prstGeom prst="rect">
            <a:avLst>
              <a:gd name="adj" fmla="val 13158"/>
            </a:avLst>
          </a:prstGeom>
          <a:solidFill>
            <a:srgbClr val="FFFFFF"/>
          </a:solidFill>
          <a:ln w="9525">
            <a:solidFill>
              <a:srgbClr val="E8E4DC"/>
            </a:solidFill>
            <a:prstDash val="solid"/>
          </a:ln>
        </p:spPr>
      </p:sp>
      <p:sp>
        <p:nvSpPr>
          <p:cNvPr id="8" name="Text 6"/>
          <p:cNvSpPr/>
          <p:nvPr/>
        </p:nvSpPr>
        <p:spPr>
          <a:xfrm>
            <a:off x="457200" y="103327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Angular 22 Client SPA (Signals)</a:t>
            </a:r>
            <a:endParaRPr lang="en-US" sz="900" dirty="0"/>
          </a:p>
        </p:txBody>
      </p:sp>
      <p:sp>
        <p:nvSpPr>
          <p:cNvPr id="9" name="Text 7"/>
          <p:cNvSpPr/>
          <p:nvPr/>
        </p:nvSpPr>
        <p:spPr>
          <a:xfrm>
            <a:off x="457200" y="1188720"/>
            <a:ext cx="3474720" cy="146304"/>
          </a:xfrm>
          <a:prstGeom prst="rect">
            <a:avLst/>
          </a:prstGeom>
          <a:noFill/>
          <a:ln/>
        </p:spPr>
        <p:txBody>
          <a:bodyPr wrap="square" rtlCol="0" anchor="ctr"/>
          <a:lstStyle/>
          <a:p>
            <a:pPr indent="0" marL="0">
              <a:buNone/>
            </a:pPr>
            <a:r>
              <a:rPr lang="en-US" sz="750" dirty="0">
                <a:solidFill>
                  <a:srgbClr val="4A4A4A"/>
                </a:solidFill>
                <a:latin typeface="Menlo" pitchFamily="34" charset="0"/>
                <a:ea typeface="Menlo" pitchFamily="34" charset="-122"/>
                <a:cs typeface="Menlo" pitchFamily="34" charset="-120"/>
              </a:rPr>
              <a:t>REST &amp; SignalR</a:t>
            </a:r>
            <a:endParaRPr lang="en-US" sz="750" dirty="0"/>
          </a:p>
        </p:txBody>
      </p:sp>
      <p:sp>
        <p:nvSpPr>
          <p:cNvPr id="10" name="Text 8"/>
          <p:cNvSpPr/>
          <p:nvPr/>
        </p:nvSpPr>
        <p:spPr>
          <a:xfrm>
            <a:off x="1920240" y="1335024"/>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11" name="Shape 9"/>
          <p:cNvSpPr/>
          <p:nvPr/>
        </p:nvSpPr>
        <p:spPr>
          <a:xfrm>
            <a:off x="365760" y="1417320"/>
            <a:ext cx="3657600" cy="347472"/>
          </a:xfrm>
          <a:prstGeom prst="rect">
            <a:avLst>
              <a:gd name="adj" fmla="val 13158"/>
            </a:avLst>
          </a:prstGeom>
          <a:solidFill>
            <a:srgbClr val="FFFFFF"/>
          </a:solidFill>
          <a:ln w="9525">
            <a:solidFill>
              <a:srgbClr val="E8E4DC"/>
            </a:solidFill>
            <a:prstDash val="solid"/>
          </a:ln>
        </p:spPr>
      </p:sp>
      <p:sp>
        <p:nvSpPr>
          <p:cNvPr id="12" name="Text 10"/>
          <p:cNvSpPr/>
          <p:nvPr/>
        </p:nvSpPr>
        <p:spPr>
          <a:xfrm>
            <a:off x="457200" y="144475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ASP.NET Core 10 API Gateway</a:t>
            </a:r>
            <a:endParaRPr lang="en-US" sz="900" dirty="0"/>
          </a:p>
        </p:txBody>
      </p:sp>
      <p:sp>
        <p:nvSpPr>
          <p:cNvPr id="13" name="Text 11"/>
          <p:cNvSpPr/>
          <p:nvPr/>
        </p:nvSpPr>
        <p:spPr>
          <a:xfrm>
            <a:off x="1920240" y="1746504"/>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14" name="Shape 12"/>
          <p:cNvSpPr/>
          <p:nvPr/>
        </p:nvSpPr>
        <p:spPr>
          <a:xfrm>
            <a:off x="365760" y="1828800"/>
            <a:ext cx="3657600" cy="347472"/>
          </a:xfrm>
          <a:prstGeom prst="rect">
            <a:avLst>
              <a:gd name="adj" fmla="val 13158"/>
            </a:avLst>
          </a:prstGeom>
          <a:solidFill>
            <a:srgbClr val="FFFFFF"/>
          </a:solidFill>
          <a:ln w="9525">
            <a:solidFill>
              <a:srgbClr val="E8E4DC"/>
            </a:solidFill>
            <a:prstDash val="solid"/>
          </a:ln>
        </p:spPr>
      </p:sp>
      <p:sp>
        <p:nvSpPr>
          <p:cNvPr id="15" name="Text 13"/>
          <p:cNvSpPr/>
          <p:nvPr/>
        </p:nvSpPr>
        <p:spPr>
          <a:xfrm>
            <a:off x="457200" y="185623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BLL Services Layer</a:t>
            </a:r>
            <a:endParaRPr lang="en-US" sz="900" dirty="0"/>
          </a:p>
        </p:txBody>
      </p:sp>
      <p:sp>
        <p:nvSpPr>
          <p:cNvPr id="16" name="Text 14"/>
          <p:cNvSpPr/>
          <p:nvPr/>
        </p:nvSpPr>
        <p:spPr>
          <a:xfrm>
            <a:off x="1920240" y="2157984"/>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17" name="Shape 15"/>
          <p:cNvSpPr/>
          <p:nvPr/>
        </p:nvSpPr>
        <p:spPr>
          <a:xfrm>
            <a:off x="365760" y="2240280"/>
            <a:ext cx="3657600" cy="347472"/>
          </a:xfrm>
          <a:prstGeom prst="rect">
            <a:avLst>
              <a:gd name="adj" fmla="val 13158"/>
            </a:avLst>
          </a:prstGeom>
          <a:solidFill>
            <a:srgbClr val="FFFFFF"/>
          </a:solidFill>
          <a:ln w="9525">
            <a:solidFill>
              <a:srgbClr val="E8E4DC"/>
            </a:solidFill>
            <a:prstDash val="solid"/>
          </a:ln>
        </p:spPr>
      </p:sp>
      <p:sp>
        <p:nvSpPr>
          <p:cNvPr id="18" name="Text 16"/>
          <p:cNvSpPr/>
          <p:nvPr/>
        </p:nvSpPr>
        <p:spPr>
          <a:xfrm>
            <a:off x="457200" y="226771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Repository Layer</a:t>
            </a:r>
            <a:endParaRPr lang="en-US" sz="900" dirty="0"/>
          </a:p>
        </p:txBody>
      </p:sp>
      <p:sp>
        <p:nvSpPr>
          <p:cNvPr id="19" name="Text 17"/>
          <p:cNvSpPr/>
          <p:nvPr/>
        </p:nvSpPr>
        <p:spPr>
          <a:xfrm>
            <a:off x="1920240" y="2569464"/>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20" name="Shape 18"/>
          <p:cNvSpPr/>
          <p:nvPr/>
        </p:nvSpPr>
        <p:spPr>
          <a:xfrm>
            <a:off x="365760" y="2651760"/>
            <a:ext cx="3657600" cy="347472"/>
          </a:xfrm>
          <a:prstGeom prst="rect">
            <a:avLst>
              <a:gd name="adj" fmla="val 13158"/>
            </a:avLst>
          </a:prstGeom>
          <a:solidFill>
            <a:srgbClr val="FFFFFF"/>
          </a:solidFill>
          <a:ln w="9525">
            <a:solidFill>
              <a:srgbClr val="E8E4DC"/>
            </a:solidFill>
            <a:prstDash val="solid"/>
          </a:ln>
        </p:spPr>
      </p:sp>
      <p:sp>
        <p:nvSpPr>
          <p:cNvPr id="21" name="Text 19"/>
          <p:cNvSpPr/>
          <p:nvPr/>
        </p:nvSpPr>
        <p:spPr>
          <a:xfrm>
            <a:off x="457200" y="267919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EF Core + PostgreSQL (DAL)</a:t>
            </a:r>
            <a:endParaRPr lang="en-US" sz="900" dirty="0"/>
          </a:p>
        </p:txBody>
      </p:sp>
      <p:sp>
        <p:nvSpPr>
          <p:cNvPr id="22" name="Text 20"/>
          <p:cNvSpPr/>
          <p:nvPr/>
        </p:nvSpPr>
        <p:spPr>
          <a:xfrm>
            <a:off x="1920240" y="2980944"/>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23" name="Shape 21"/>
          <p:cNvSpPr/>
          <p:nvPr/>
        </p:nvSpPr>
        <p:spPr>
          <a:xfrm>
            <a:off x="365760" y="3063240"/>
            <a:ext cx="3657600" cy="347472"/>
          </a:xfrm>
          <a:prstGeom prst="rect">
            <a:avLst>
              <a:gd name="adj" fmla="val 13158"/>
            </a:avLst>
          </a:prstGeom>
          <a:solidFill>
            <a:srgbClr val="FFF8E8"/>
          </a:solidFill>
          <a:ln w="19050">
            <a:solidFill>
              <a:srgbClr val="C8A84E"/>
            </a:solidFill>
            <a:prstDash val="solid"/>
          </a:ln>
        </p:spPr>
      </p:sp>
      <p:sp>
        <p:nvSpPr>
          <p:cNvPr id="24" name="Text 22"/>
          <p:cNvSpPr/>
          <p:nvPr/>
        </p:nvSpPr>
        <p:spPr>
          <a:xfrm>
            <a:off x="457200" y="3090672"/>
            <a:ext cx="3474720" cy="182880"/>
          </a:xfrm>
          <a:prstGeom prst="rect">
            <a:avLst/>
          </a:prstGeom>
          <a:noFill/>
          <a:ln/>
        </p:spPr>
        <p:txBody>
          <a:bodyPr wrap="square" rtlCol="0" anchor="ctr"/>
          <a:lstStyle/>
          <a:p>
            <a:pPr indent="0" marL="0">
              <a:buNone/>
            </a:pPr>
            <a:r>
              <a:rPr lang="en-US" sz="900" b="1" dirty="0">
                <a:solidFill>
                  <a:srgbClr val="1A1A1A"/>
                </a:solidFill>
                <a:latin typeface="Menlo" pitchFamily="34" charset="0"/>
                <a:ea typeface="Menlo" pitchFamily="34" charset="-122"/>
                <a:cs typeface="Menlo" pitchFamily="34" charset="-120"/>
              </a:rPr>
              <a:t>Azure Cloud Infrastructure</a:t>
            </a:r>
            <a:endParaRPr lang="en-US" sz="900" dirty="0"/>
          </a:p>
        </p:txBody>
      </p:sp>
      <p:sp>
        <p:nvSpPr>
          <p:cNvPr id="25" name="Shape 23"/>
          <p:cNvSpPr/>
          <p:nvPr/>
        </p:nvSpPr>
        <p:spPr>
          <a:xfrm>
            <a:off x="4389120" y="1005840"/>
            <a:ext cx="4389120" cy="685800"/>
          </a:xfrm>
          <a:prstGeom prst="rect">
            <a:avLst>
              <a:gd name="adj" fmla="val 8000"/>
            </a:avLst>
          </a:prstGeom>
          <a:solidFill>
            <a:srgbClr val="FFFFFF"/>
          </a:solidFill>
          <a:ln w="9525">
            <a:solidFill>
              <a:srgbClr val="E8E4DC"/>
            </a:solidFill>
            <a:prstDash val="solid"/>
          </a:ln>
        </p:spPr>
      </p:sp>
      <p:sp>
        <p:nvSpPr>
          <p:cNvPr id="26" name="Text 24"/>
          <p:cNvSpPr/>
          <p:nvPr/>
        </p:nvSpPr>
        <p:spPr>
          <a:xfrm>
            <a:off x="4526280" y="1051560"/>
            <a:ext cx="411480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6 User Roles</a:t>
            </a:r>
            <a:endParaRPr lang="en-US" sz="1100" dirty="0"/>
          </a:p>
        </p:txBody>
      </p:sp>
      <p:sp>
        <p:nvSpPr>
          <p:cNvPr id="27" name="Text 25"/>
          <p:cNvSpPr/>
          <p:nvPr/>
        </p:nvSpPr>
        <p:spPr>
          <a:xfrm>
            <a:off x="4526280" y="1280160"/>
            <a:ext cx="4114800" cy="36576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Admin • FrontDesk • Guest • Kitchen • Housekeeping • Maintenance</a:t>
            </a:r>
            <a:endParaRPr lang="en-US" sz="900" dirty="0"/>
          </a:p>
        </p:txBody>
      </p:sp>
      <p:sp>
        <p:nvSpPr>
          <p:cNvPr id="28" name="Shape 26"/>
          <p:cNvSpPr/>
          <p:nvPr/>
        </p:nvSpPr>
        <p:spPr>
          <a:xfrm>
            <a:off x="4389120" y="1783080"/>
            <a:ext cx="4389120" cy="685800"/>
          </a:xfrm>
          <a:prstGeom prst="rect">
            <a:avLst>
              <a:gd name="adj" fmla="val 8000"/>
            </a:avLst>
          </a:prstGeom>
          <a:solidFill>
            <a:srgbClr val="FFFFFF"/>
          </a:solidFill>
          <a:ln w="9525">
            <a:solidFill>
              <a:srgbClr val="E8E4DC"/>
            </a:solidFill>
            <a:prstDash val="solid"/>
          </a:ln>
        </p:spPr>
      </p:sp>
      <p:sp>
        <p:nvSpPr>
          <p:cNvPr id="29" name="Text 27"/>
          <p:cNvSpPr/>
          <p:nvPr/>
        </p:nvSpPr>
        <p:spPr>
          <a:xfrm>
            <a:off x="4526280" y="1828800"/>
            <a:ext cx="411480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7 Angular Route Guards</a:t>
            </a:r>
            <a:endParaRPr lang="en-US" sz="1100" dirty="0"/>
          </a:p>
        </p:txBody>
      </p:sp>
      <p:sp>
        <p:nvSpPr>
          <p:cNvPr id="30" name="Text 28"/>
          <p:cNvSpPr/>
          <p:nvPr/>
        </p:nvSpPr>
        <p:spPr>
          <a:xfrm>
            <a:off x="4526280" y="2057400"/>
            <a:ext cx="4114800" cy="36576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Role-based SPA access control</a:t>
            </a:r>
            <a:endParaRPr lang="en-US" sz="900" dirty="0"/>
          </a:p>
        </p:txBody>
      </p:sp>
      <p:sp>
        <p:nvSpPr>
          <p:cNvPr id="31" name="Shape 29"/>
          <p:cNvSpPr/>
          <p:nvPr/>
        </p:nvSpPr>
        <p:spPr>
          <a:xfrm>
            <a:off x="4389120" y="2560320"/>
            <a:ext cx="4389120" cy="685800"/>
          </a:xfrm>
          <a:prstGeom prst="rect">
            <a:avLst>
              <a:gd name="adj" fmla="val 8000"/>
            </a:avLst>
          </a:prstGeom>
          <a:solidFill>
            <a:srgbClr val="FFFFFF"/>
          </a:solidFill>
          <a:ln w="9525">
            <a:solidFill>
              <a:srgbClr val="E8E4DC"/>
            </a:solidFill>
            <a:prstDash val="solid"/>
          </a:ln>
        </p:spPr>
      </p:sp>
      <p:sp>
        <p:nvSpPr>
          <p:cNvPr id="32" name="Text 30"/>
          <p:cNvSpPr/>
          <p:nvPr/>
        </p:nvSpPr>
        <p:spPr>
          <a:xfrm>
            <a:off x="4526280" y="2606040"/>
            <a:ext cx="411480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4 Automated Background Workers</a:t>
            </a:r>
            <a:endParaRPr lang="en-US" sz="1100" dirty="0"/>
          </a:p>
        </p:txBody>
      </p:sp>
      <p:sp>
        <p:nvSpPr>
          <p:cNvPr id="33" name="Text 31"/>
          <p:cNvSpPr/>
          <p:nvPr/>
        </p:nvSpPr>
        <p:spPr>
          <a:xfrm>
            <a:off x="4526280" y="2834640"/>
            <a:ext cx="4114800" cy="36576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Magic byte validation • Orphan cleanup • Blob cross-reference • Idempotency cleanup</a:t>
            </a:r>
            <a:endParaRPr lang="en-US" sz="900" dirty="0"/>
          </a:p>
        </p:txBody>
      </p:sp>
      <p:sp>
        <p:nvSpPr>
          <p:cNvPr id="34" name="Shape 32"/>
          <p:cNvSpPr/>
          <p:nvPr/>
        </p:nvSpPr>
        <p:spPr>
          <a:xfrm>
            <a:off x="4389120" y="3337560"/>
            <a:ext cx="4389120" cy="1051560"/>
          </a:xfrm>
          <a:prstGeom prst="rect">
            <a:avLst>
              <a:gd name="adj" fmla="val 5217"/>
            </a:avLst>
          </a:prstGeom>
          <a:solidFill>
            <a:srgbClr val="FFF8E8"/>
          </a:solidFill>
          <a:ln w="12700">
            <a:solidFill>
              <a:srgbClr val="C8A84E"/>
            </a:solidFill>
            <a:prstDash val="solid"/>
          </a:ln>
        </p:spPr>
      </p:sp>
      <p:sp>
        <p:nvSpPr>
          <p:cNvPr id="35" name="Text 33"/>
          <p:cNvSpPr/>
          <p:nvPr/>
        </p:nvSpPr>
        <p:spPr>
          <a:xfrm>
            <a:off x="4526280" y="3383280"/>
            <a:ext cx="411480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KPIs Computed In-Database</a:t>
            </a:r>
            <a:endParaRPr lang="en-US" sz="1100" dirty="0"/>
          </a:p>
        </p:txBody>
      </p:sp>
      <p:sp>
        <p:nvSpPr>
          <p:cNvPr id="36" name="Text 34"/>
          <p:cNvSpPr/>
          <p:nvPr/>
        </p:nvSpPr>
        <p:spPr>
          <a:xfrm>
            <a:off x="4526280" y="3611880"/>
            <a:ext cx="4114800" cy="7315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4 PostgreSQL stored procedures drive 7 live KPIs: Occupancy Rate, RevPAR, ADR, Guest Satisfaction, Length of Stay, Cancellation Rate, Housekeeping Turnaround — rendered as ECharts dashboards.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User Dashboard</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Guest-Facing Dashboard with Booking Management, AI Concierge, and Audit Trail</a:t>
            </a:r>
            <a:endParaRPr lang="en-US" sz="1200" dirty="0"/>
          </a:p>
        </p:txBody>
      </p:sp>
      <p:sp>
        <p:nvSpPr>
          <p:cNvPr id="7" name="Shape 5"/>
          <p:cNvSpPr/>
          <p:nvPr/>
        </p:nvSpPr>
        <p:spPr>
          <a:xfrm>
            <a:off x="365760" y="1097280"/>
            <a:ext cx="4023360" cy="1325880"/>
          </a:xfrm>
          <a:prstGeom prst="rect">
            <a:avLst>
              <a:gd name="adj" fmla="val 5517"/>
            </a:avLst>
          </a:prstGeom>
          <a:solidFill>
            <a:srgbClr val="FFFFFF"/>
          </a:solidFill>
          <a:ln w="9525">
            <a:solidFill>
              <a:srgbClr val="E8E4DC"/>
            </a:solidFill>
            <a:prstDash val="solid"/>
          </a:ln>
        </p:spPr>
      </p:sp>
      <p:sp>
        <p:nvSpPr>
          <p:cNvPr id="8" name="Shape 6"/>
          <p:cNvSpPr/>
          <p:nvPr/>
        </p:nvSpPr>
        <p:spPr>
          <a:xfrm>
            <a:off x="365760" y="1097280"/>
            <a:ext cx="54864" cy="1325880"/>
          </a:xfrm>
          <a:prstGeom prst="rect">
            <a:avLst/>
          </a:prstGeom>
          <a:solidFill>
            <a:srgbClr val="C8A84E"/>
          </a:solidFill>
          <a:ln/>
        </p:spPr>
      </p:sp>
      <p:sp>
        <p:nvSpPr>
          <p:cNvPr id="9" name="Text 7"/>
          <p:cNvSpPr/>
          <p:nvPr/>
        </p:nvSpPr>
        <p:spPr>
          <a:xfrm>
            <a:off x="548640" y="1188720"/>
            <a:ext cx="3657600" cy="274320"/>
          </a:xfrm>
          <a:prstGeom prst="rect">
            <a:avLst/>
          </a:prstGeom>
          <a:noFill/>
          <a:ln/>
        </p:spPr>
        <p:txBody>
          <a:bodyPr wrap="square" rtlCol="0" anchor="ctr"/>
          <a:lstStyle/>
          <a:p>
            <a:pPr indent="0" marL="0">
              <a:buNone/>
            </a:pPr>
            <a:r>
              <a:rPr lang="en-US" sz="1300" b="1" dirty="0">
                <a:solidFill>
                  <a:srgbClr val="B8963E"/>
                </a:solidFill>
                <a:latin typeface="Helvetica" pitchFamily="34" charset="0"/>
                <a:ea typeface="Helvetica" pitchFamily="34" charset="-122"/>
                <a:cs typeface="Helvetica" pitchFamily="34" charset="-120"/>
              </a:rPr>
              <a:t>Booking Overview</a:t>
            </a:r>
            <a:endParaRPr lang="en-US" sz="1300" dirty="0"/>
          </a:p>
        </p:txBody>
      </p:sp>
      <p:sp>
        <p:nvSpPr>
          <p:cNvPr id="10" name="Text 8"/>
          <p:cNvSpPr/>
          <p:nvPr/>
        </p:nvSpPr>
        <p:spPr>
          <a:xfrm>
            <a:off x="548640" y="1508760"/>
            <a:ext cx="3657600" cy="77724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Active bookings, upcoming stays, and past reservations in a unified timeline view.</a:t>
            </a:r>
            <a:endParaRPr lang="en-US" sz="1000" dirty="0"/>
          </a:p>
        </p:txBody>
      </p:sp>
      <p:sp>
        <p:nvSpPr>
          <p:cNvPr id="11" name="Shape 9"/>
          <p:cNvSpPr/>
          <p:nvPr/>
        </p:nvSpPr>
        <p:spPr>
          <a:xfrm>
            <a:off x="4754880" y="1097280"/>
            <a:ext cx="4023360" cy="1325880"/>
          </a:xfrm>
          <a:prstGeom prst="rect">
            <a:avLst>
              <a:gd name="adj" fmla="val 5517"/>
            </a:avLst>
          </a:prstGeom>
          <a:solidFill>
            <a:srgbClr val="FFFFFF"/>
          </a:solidFill>
          <a:ln w="9525">
            <a:solidFill>
              <a:srgbClr val="E8E4DC"/>
            </a:solidFill>
            <a:prstDash val="solid"/>
          </a:ln>
        </p:spPr>
      </p:sp>
      <p:sp>
        <p:nvSpPr>
          <p:cNvPr id="12" name="Shape 10"/>
          <p:cNvSpPr/>
          <p:nvPr/>
        </p:nvSpPr>
        <p:spPr>
          <a:xfrm>
            <a:off x="4754880" y="1097280"/>
            <a:ext cx="54864" cy="1325880"/>
          </a:xfrm>
          <a:prstGeom prst="rect">
            <a:avLst/>
          </a:prstGeom>
          <a:solidFill>
            <a:srgbClr val="C8A84E"/>
          </a:solidFill>
          <a:ln/>
        </p:spPr>
      </p:sp>
      <p:sp>
        <p:nvSpPr>
          <p:cNvPr id="13" name="Text 11"/>
          <p:cNvSpPr/>
          <p:nvPr/>
        </p:nvSpPr>
        <p:spPr>
          <a:xfrm>
            <a:off x="4937760" y="1188720"/>
            <a:ext cx="3657600" cy="274320"/>
          </a:xfrm>
          <a:prstGeom prst="rect">
            <a:avLst/>
          </a:prstGeom>
          <a:noFill/>
          <a:ln/>
        </p:spPr>
        <p:txBody>
          <a:bodyPr wrap="square" rtlCol="0" anchor="ctr"/>
          <a:lstStyle/>
          <a:p>
            <a:pPr indent="0" marL="0">
              <a:buNone/>
            </a:pPr>
            <a:r>
              <a:rPr lang="en-US" sz="1300" b="1" dirty="0">
                <a:solidFill>
                  <a:srgbClr val="B8963E"/>
                </a:solidFill>
                <a:latin typeface="Helvetica" pitchFamily="34" charset="0"/>
                <a:ea typeface="Helvetica" pitchFamily="34" charset="-122"/>
                <a:cs typeface="Helvetica" pitchFamily="34" charset="-120"/>
              </a:rPr>
              <a:t>AI Concierge (ATLAS)</a:t>
            </a:r>
            <a:endParaRPr lang="en-US" sz="1300" dirty="0"/>
          </a:p>
        </p:txBody>
      </p:sp>
      <p:sp>
        <p:nvSpPr>
          <p:cNvPr id="14" name="Text 12"/>
          <p:cNvSpPr/>
          <p:nvPr/>
        </p:nvSpPr>
        <p:spPr>
          <a:xfrm>
            <a:off x="4937760" y="1508760"/>
            <a:ext cx="3657600" cy="77724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Chat interface for room service, housekeeping, maintenance requests — natural language to real actions.</a:t>
            </a:r>
            <a:endParaRPr lang="en-US" sz="1000" dirty="0"/>
          </a:p>
        </p:txBody>
      </p:sp>
      <p:sp>
        <p:nvSpPr>
          <p:cNvPr id="15" name="Shape 13"/>
          <p:cNvSpPr/>
          <p:nvPr/>
        </p:nvSpPr>
        <p:spPr>
          <a:xfrm>
            <a:off x="365760" y="2651760"/>
            <a:ext cx="4023360" cy="1325880"/>
          </a:xfrm>
          <a:prstGeom prst="rect">
            <a:avLst>
              <a:gd name="adj" fmla="val 5517"/>
            </a:avLst>
          </a:prstGeom>
          <a:solidFill>
            <a:srgbClr val="FFFFFF"/>
          </a:solidFill>
          <a:ln w="9525">
            <a:solidFill>
              <a:srgbClr val="E8E4DC"/>
            </a:solidFill>
            <a:prstDash val="solid"/>
          </a:ln>
        </p:spPr>
      </p:sp>
      <p:sp>
        <p:nvSpPr>
          <p:cNvPr id="16" name="Shape 14"/>
          <p:cNvSpPr/>
          <p:nvPr/>
        </p:nvSpPr>
        <p:spPr>
          <a:xfrm>
            <a:off x="365760" y="2651760"/>
            <a:ext cx="54864" cy="1325880"/>
          </a:xfrm>
          <a:prstGeom prst="rect">
            <a:avLst/>
          </a:prstGeom>
          <a:solidFill>
            <a:srgbClr val="C8A84E"/>
          </a:solidFill>
          <a:ln/>
        </p:spPr>
      </p:sp>
      <p:sp>
        <p:nvSpPr>
          <p:cNvPr id="17" name="Text 15"/>
          <p:cNvSpPr/>
          <p:nvPr/>
        </p:nvSpPr>
        <p:spPr>
          <a:xfrm>
            <a:off x="548640" y="2743200"/>
            <a:ext cx="3657600" cy="274320"/>
          </a:xfrm>
          <a:prstGeom prst="rect">
            <a:avLst/>
          </a:prstGeom>
          <a:noFill/>
          <a:ln/>
        </p:spPr>
        <p:txBody>
          <a:bodyPr wrap="square" rtlCol="0" anchor="ctr"/>
          <a:lstStyle/>
          <a:p>
            <a:pPr indent="0" marL="0">
              <a:buNone/>
            </a:pPr>
            <a:r>
              <a:rPr lang="en-US" sz="1300" b="1" dirty="0">
                <a:solidFill>
                  <a:srgbClr val="B8963E"/>
                </a:solidFill>
                <a:latin typeface="Helvetica" pitchFamily="34" charset="0"/>
                <a:ea typeface="Helvetica" pitchFamily="34" charset="-122"/>
                <a:cs typeface="Helvetica" pitchFamily="34" charset="-120"/>
              </a:rPr>
              <a:t>Audit Trail</a:t>
            </a:r>
            <a:endParaRPr lang="en-US" sz="1300" dirty="0"/>
          </a:p>
        </p:txBody>
      </p:sp>
      <p:sp>
        <p:nvSpPr>
          <p:cNvPr id="18" name="Text 16"/>
          <p:cNvSpPr/>
          <p:nvPr/>
        </p:nvSpPr>
        <p:spPr>
          <a:xfrm>
            <a:off x="548640" y="3063240"/>
            <a:ext cx="3657600" cy="77724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Every action logged — view complete change history for bookings, requests, and folio.</a:t>
            </a:r>
            <a:endParaRPr lang="en-US" sz="1000" dirty="0"/>
          </a:p>
        </p:txBody>
      </p:sp>
      <p:sp>
        <p:nvSpPr>
          <p:cNvPr id="19" name="Shape 17"/>
          <p:cNvSpPr/>
          <p:nvPr/>
        </p:nvSpPr>
        <p:spPr>
          <a:xfrm>
            <a:off x="4754880" y="2651760"/>
            <a:ext cx="4023360" cy="1325880"/>
          </a:xfrm>
          <a:prstGeom prst="rect">
            <a:avLst>
              <a:gd name="adj" fmla="val 5517"/>
            </a:avLst>
          </a:prstGeom>
          <a:solidFill>
            <a:srgbClr val="FFFFFF"/>
          </a:solidFill>
          <a:ln w="9525">
            <a:solidFill>
              <a:srgbClr val="E8E4DC"/>
            </a:solidFill>
            <a:prstDash val="solid"/>
          </a:ln>
        </p:spPr>
      </p:sp>
      <p:sp>
        <p:nvSpPr>
          <p:cNvPr id="20" name="Shape 18"/>
          <p:cNvSpPr/>
          <p:nvPr/>
        </p:nvSpPr>
        <p:spPr>
          <a:xfrm>
            <a:off x="4754880" y="2651760"/>
            <a:ext cx="54864" cy="1325880"/>
          </a:xfrm>
          <a:prstGeom prst="rect">
            <a:avLst/>
          </a:prstGeom>
          <a:solidFill>
            <a:srgbClr val="C8A84E"/>
          </a:solidFill>
          <a:ln/>
        </p:spPr>
      </p:sp>
      <p:sp>
        <p:nvSpPr>
          <p:cNvPr id="21" name="Text 19"/>
          <p:cNvSpPr/>
          <p:nvPr/>
        </p:nvSpPr>
        <p:spPr>
          <a:xfrm>
            <a:off x="4937760" y="2743200"/>
            <a:ext cx="3657600" cy="274320"/>
          </a:xfrm>
          <a:prstGeom prst="rect">
            <a:avLst/>
          </a:prstGeom>
          <a:noFill/>
          <a:ln/>
        </p:spPr>
        <p:txBody>
          <a:bodyPr wrap="square" rtlCol="0" anchor="ctr"/>
          <a:lstStyle/>
          <a:p>
            <a:pPr indent="0" marL="0">
              <a:buNone/>
            </a:pPr>
            <a:r>
              <a:rPr lang="en-US" sz="1300" b="1" dirty="0">
                <a:solidFill>
                  <a:srgbClr val="B8963E"/>
                </a:solidFill>
                <a:latin typeface="Helvetica" pitchFamily="34" charset="0"/>
                <a:ea typeface="Helvetica" pitchFamily="34" charset="-122"/>
                <a:cs typeface="Helvetica" pitchFamily="34" charset="-120"/>
              </a:rPr>
              <a:t>Guest Profile</a:t>
            </a:r>
            <a:endParaRPr lang="en-US" sz="1300" dirty="0"/>
          </a:p>
        </p:txBody>
      </p:sp>
      <p:sp>
        <p:nvSpPr>
          <p:cNvPr id="22" name="Text 20"/>
          <p:cNvSpPr/>
          <p:nvPr/>
        </p:nvSpPr>
        <p:spPr>
          <a:xfrm>
            <a:off x="4937760" y="3063240"/>
            <a:ext cx="3657600" cy="77724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Personal details, preferences, loyalty status, and stay history.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Staff Dashboard</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Ticket-Based Operations: Housekeeping, Maintenance &amp; Kitchen</a:t>
            </a:r>
            <a:endParaRPr lang="en-US" sz="1200" dirty="0"/>
          </a:p>
        </p:txBody>
      </p:sp>
      <p:sp>
        <p:nvSpPr>
          <p:cNvPr id="7" name="Shape 5"/>
          <p:cNvSpPr/>
          <p:nvPr/>
        </p:nvSpPr>
        <p:spPr>
          <a:xfrm>
            <a:off x="320040" y="1097280"/>
            <a:ext cx="2743200" cy="3383280"/>
          </a:xfrm>
          <a:prstGeom prst="rect">
            <a:avLst>
              <a:gd name="adj" fmla="val 2667"/>
            </a:avLst>
          </a:prstGeom>
          <a:solidFill>
            <a:srgbClr val="FFFFFF"/>
          </a:solidFill>
          <a:ln w="9525">
            <a:solidFill>
              <a:srgbClr val="E8E4DC"/>
            </a:solidFill>
            <a:prstDash val="solid"/>
          </a:ln>
        </p:spPr>
      </p:sp>
      <p:sp>
        <p:nvSpPr>
          <p:cNvPr id="8" name="Shape 6"/>
          <p:cNvSpPr/>
          <p:nvPr/>
        </p:nvSpPr>
        <p:spPr>
          <a:xfrm>
            <a:off x="1371600" y="1188720"/>
            <a:ext cx="640080" cy="640080"/>
          </a:xfrm>
          <a:prstGeom prst="ellipse">
            <a:avLst/>
          </a:prstGeom>
          <a:solidFill>
            <a:srgbClr val="C8A84E"/>
          </a:solidFill>
          <a:ln/>
        </p:spPr>
      </p:sp>
      <p:sp>
        <p:nvSpPr>
          <p:cNvPr id="9" name="Text 7"/>
          <p:cNvSpPr/>
          <p:nvPr/>
        </p:nvSpPr>
        <p:spPr>
          <a:xfrm>
            <a:off x="1371600" y="1188720"/>
            <a:ext cx="640080" cy="640080"/>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HK</a:t>
            </a:r>
            <a:endParaRPr lang="en-US" sz="1400" dirty="0"/>
          </a:p>
        </p:txBody>
      </p:sp>
      <p:sp>
        <p:nvSpPr>
          <p:cNvPr id="10" name="Text 8"/>
          <p:cNvSpPr/>
          <p:nvPr/>
        </p:nvSpPr>
        <p:spPr>
          <a:xfrm>
            <a:off x="457200" y="1965960"/>
            <a:ext cx="2468880" cy="274320"/>
          </a:xfrm>
          <a:prstGeom prst="rect">
            <a:avLst/>
          </a:prstGeom>
          <a:noFill/>
          <a:ln/>
        </p:spPr>
        <p:txBody>
          <a:bodyPr wrap="square" rtlCol="0" anchor="ctr"/>
          <a:lstStyle/>
          <a:p>
            <a:pPr algn="ctr" indent="0" marL="0">
              <a:buNone/>
            </a:pPr>
            <a:r>
              <a:rPr lang="en-US" sz="1400" b="1" dirty="0">
                <a:solidFill>
                  <a:srgbClr val="1A1A1A"/>
                </a:solidFill>
                <a:latin typeface="Helvetica" pitchFamily="34" charset="0"/>
                <a:ea typeface="Helvetica" pitchFamily="34" charset="-122"/>
                <a:cs typeface="Helvetica" pitchFamily="34" charset="-120"/>
              </a:rPr>
              <a:t>Housekeeping</a:t>
            </a:r>
            <a:endParaRPr lang="en-US" sz="1400" dirty="0"/>
          </a:p>
        </p:txBody>
      </p:sp>
      <p:sp>
        <p:nvSpPr>
          <p:cNvPr id="11" name="Shape 9"/>
          <p:cNvSpPr/>
          <p:nvPr/>
        </p:nvSpPr>
        <p:spPr>
          <a:xfrm>
            <a:off x="1051560" y="2267712"/>
            <a:ext cx="1280160" cy="27432"/>
          </a:xfrm>
          <a:prstGeom prst="rect">
            <a:avLst/>
          </a:prstGeom>
          <a:solidFill>
            <a:srgbClr val="C8A84E"/>
          </a:solidFill>
          <a:ln/>
        </p:spPr>
      </p:sp>
      <p:sp>
        <p:nvSpPr>
          <p:cNvPr id="12" name="Text 10"/>
          <p:cNvSpPr/>
          <p:nvPr/>
        </p:nvSpPr>
        <p:spPr>
          <a:xfrm>
            <a:off x="502920" y="242316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Real-time room status board (Clean/Dirty/Inspected)</a:t>
            </a:r>
            <a:endParaRPr lang="en-US" sz="950" dirty="0"/>
          </a:p>
        </p:txBody>
      </p:sp>
      <p:sp>
        <p:nvSpPr>
          <p:cNvPr id="13" name="Text 11"/>
          <p:cNvSpPr/>
          <p:nvPr/>
        </p:nvSpPr>
        <p:spPr>
          <a:xfrm>
            <a:off x="502920" y="283464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Task assignment with priority levels</a:t>
            </a:r>
            <a:endParaRPr lang="en-US" sz="950" dirty="0"/>
          </a:p>
        </p:txBody>
      </p:sp>
      <p:sp>
        <p:nvSpPr>
          <p:cNvPr id="14" name="Text 12"/>
          <p:cNvSpPr/>
          <p:nvPr/>
        </p:nvSpPr>
        <p:spPr>
          <a:xfrm>
            <a:off x="502920" y="324612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Checkout-triggered cleaning alerts via SignalR</a:t>
            </a:r>
            <a:endParaRPr lang="en-US" sz="950" dirty="0"/>
          </a:p>
        </p:txBody>
      </p:sp>
      <p:sp>
        <p:nvSpPr>
          <p:cNvPr id="15" name="Text 13"/>
          <p:cNvSpPr/>
          <p:nvPr/>
        </p:nvSpPr>
        <p:spPr>
          <a:xfrm>
            <a:off x="502920" y="365760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Supply inventory tracking</a:t>
            </a:r>
            <a:endParaRPr lang="en-US" sz="950" dirty="0"/>
          </a:p>
        </p:txBody>
      </p:sp>
      <p:sp>
        <p:nvSpPr>
          <p:cNvPr id="16" name="Shape 14"/>
          <p:cNvSpPr/>
          <p:nvPr/>
        </p:nvSpPr>
        <p:spPr>
          <a:xfrm>
            <a:off x="3246120" y="1097280"/>
            <a:ext cx="2743200" cy="3383280"/>
          </a:xfrm>
          <a:prstGeom prst="rect">
            <a:avLst>
              <a:gd name="adj" fmla="val 2667"/>
            </a:avLst>
          </a:prstGeom>
          <a:solidFill>
            <a:srgbClr val="FFFFFF"/>
          </a:solidFill>
          <a:ln w="9525">
            <a:solidFill>
              <a:srgbClr val="E8E4DC"/>
            </a:solidFill>
            <a:prstDash val="solid"/>
          </a:ln>
        </p:spPr>
      </p:sp>
      <p:sp>
        <p:nvSpPr>
          <p:cNvPr id="17" name="Shape 15"/>
          <p:cNvSpPr/>
          <p:nvPr/>
        </p:nvSpPr>
        <p:spPr>
          <a:xfrm>
            <a:off x="4297680" y="1188720"/>
            <a:ext cx="640080" cy="640080"/>
          </a:xfrm>
          <a:prstGeom prst="ellipse">
            <a:avLst/>
          </a:prstGeom>
          <a:solidFill>
            <a:srgbClr val="C8A84E"/>
          </a:solidFill>
          <a:ln/>
        </p:spPr>
      </p:sp>
      <p:sp>
        <p:nvSpPr>
          <p:cNvPr id="18" name="Text 16"/>
          <p:cNvSpPr/>
          <p:nvPr/>
        </p:nvSpPr>
        <p:spPr>
          <a:xfrm>
            <a:off x="4297680" y="1188720"/>
            <a:ext cx="640080" cy="640080"/>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MT</a:t>
            </a:r>
            <a:endParaRPr lang="en-US" sz="1400" dirty="0"/>
          </a:p>
        </p:txBody>
      </p:sp>
      <p:sp>
        <p:nvSpPr>
          <p:cNvPr id="19" name="Text 17"/>
          <p:cNvSpPr/>
          <p:nvPr/>
        </p:nvSpPr>
        <p:spPr>
          <a:xfrm>
            <a:off x="3383280" y="1965960"/>
            <a:ext cx="2468880" cy="274320"/>
          </a:xfrm>
          <a:prstGeom prst="rect">
            <a:avLst/>
          </a:prstGeom>
          <a:noFill/>
          <a:ln/>
        </p:spPr>
        <p:txBody>
          <a:bodyPr wrap="square" rtlCol="0" anchor="ctr"/>
          <a:lstStyle/>
          <a:p>
            <a:pPr algn="ctr" indent="0" marL="0">
              <a:buNone/>
            </a:pPr>
            <a:r>
              <a:rPr lang="en-US" sz="1400" b="1" dirty="0">
                <a:solidFill>
                  <a:srgbClr val="1A1A1A"/>
                </a:solidFill>
                <a:latin typeface="Helvetica" pitchFamily="34" charset="0"/>
                <a:ea typeface="Helvetica" pitchFamily="34" charset="-122"/>
                <a:cs typeface="Helvetica" pitchFamily="34" charset="-120"/>
              </a:rPr>
              <a:t>Maintenance</a:t>
            </a:r>
            <a:endParaRPr lang="en-US" sz="1400" dirty="0"/>
          </a:p>
        </p:txBody>
      </p:sp>
      <p:sp>
        <p:nvSpPr>
          <p:cNvPr id="20" name="Shape 18"/>
          <p:cNvSpPr/>
          <p:nvPr/>
        </p:nvSpPr>
        <p:spPr>
          <a:xfrm>
            <a:off x="3977640" y="2267712"/>
            <a:ext cx="1280160" cy="27432"/>
          </a:xfrm>
          <a:prstGeom prst="rect">
            <a:avLst/>
          </a:prstGeom>
          <a:solidFill>
            <a:srgbClr val="C8A84E"/>
          </a:solidFill>
          <a:ln/>
        </p:spPr>
      </p:sp>
      <p:sp>
        <p:nvSpPr>
          <p:cNvPr id="21" name="Text 19"/>
          <p:cNvSpPr/>
          <p:nvPr/>
        </p:nvSpPr>
        <p:spPr>
          <a:xfrm>
            <a:off x="3429000" y="242316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Issue tracking with photo attachments</a:t>
            </a:r>
            <a:endParaRPr lang="en-US" sz="950" dirty="0"/>
          </a:p>
        </p:txBody>
      </p:sp>
      <p:sp>
        <p:nvSpPr>
          <p:cNvPr id="22" name="Text 20"/>
          <p:cNvSpPr/>
          <p:nvPr/>
        </p:nvSpPr>
        <p:spPr>
          <a:xfrm>
            <a:off x="3429000" y="283464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Priority-based dispatch (Emergency/Routine)</a:t>
            </a:r>
            <a:endParaRPr lang="en-US" sz="950" dirty="0"/>
          </a:p>
        </p:txBody>
      </p:sp>
      <p:sp>
        <p:nvSpPr>
          <p:cNvPr id="23" name="Text 21"/>
          <p:cNvSpPr/>
          <p:nvPr/>
        </p:nvSpPr>
        <p:spPr>
          <a:xfrm>
            <a:off x="3429000" y="324612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Parts inventory and vendor tracking</a:t>
            </a:r>
            <a:endParaRPr lang="en-US" sz="950" dirty="0"/>
          </a:p>
        </p:txBody>
      </p:sp>
      <p:sp>
        <p:nvSpPr>
          <p:cNvPr id="24" name="Text 22"/>
          <p:cNvSpPr/>
          <p:nvPr/>
        </p:nvSpPr>
        <p:spPr>
          <a:xfrm>
            <a:off x="3429000" y="365760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Preventive maintenance scheduling</a:t>
            </a:r>
            <a:endParaRPr lang="en-US" sz="950" dirty="0"/>
          </a:p>
        </p:txBody>
      </p:sp>
      <p:sp>
        <p:nvSpPr>
          <p:cNvPr id="25" name="Shape 23"/>
          <p:cNvSpPr/>
          <p:nvPr/>
        </p:nvSpPr>
        <p:spPr>
          <a:xfrm>
            <a:off x="6172200" y="1097280"/>
            <a:ext cx="2743200" cy="3383280"/>
          </a:xfrm>
          <a:prstGeom prst="rect">
            <a:avLst>
              <a:gd name="adj" fmla="val 2667"/>
            </a:avLst>
          </a:prstGeom>
          <a:solidFill>
            <a:srgbClr val="FFFFFF"/>
          </a:solidFill>
          <a:ln w="9525">
            <a:solidFill>
              <a:srgbClr val="E8E4DC"/>
            </a:solidFill>
            <a:prstDash val="solid"/>
          </a:ln>
        </p:spPr>
      </p:sp>
      <p:sp>
        <p:nvSpPr>
          <p:cNvPr id="26" name="Shape 24"/>
          <p:cNvSpPr/>
          <p:nvPr/>
        </p:nvSpPr>
        <p:spPr>
          <a:xfrm>
            <a:off x="7223760" y="1188720"/>
            <a:ext cx="640080" cy="640080"/>
          </a:xfrm>
          <a:prstGeom prst="ellipse">
            <a:avLst/>
          </a:prstGeom>
          <a:solidFill>
            <a:srgbClr val="C8A84E"/>
          </a:solidFill>
          <a:ln/>
        </p:spPr>
      </p:sp>
      <p:sp>
        <p:nvSpPr>
          <p:cNvPr id="27" name="Text 25"/>
          <p:cNvSpPr/>
          <p:nvPr/>
        </p:nvSpPr>
        <p:spPr>
          <a:xfrm>
            <a:off x="7223760" y="1188720"/>
            <a:ext cx="640080" cy="640080"/>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KT</a:t>
            </a:r>
            <a:endParaRPr lang="en-US" sz="1400" dirty="0"/>
          </a:p>
        </p:txBody>
      </p:sp>
      <p:sp>
        <p:nvSpPr>
          <p:cNvPr id="28" name="Text 26"/>
          <p:cNvSpPr/>
          <p:nvPr/>
        </p:nvSpPr>
        <p:spPr>
          <a:xfrm>
            <a:off x="6309360" y="1965960"/>
            <a:ext cx="2468880" cy="274320"/>
          </a:xfrm>
          <a:prstGeom prst="rect">
            <a:avLst/>
          </a:prstGeom>
          <a:noFill/>
          <a:ln/>
        </p:spPr>
        <p:txBody>
          <a:bodyPr wrap="square" rtlCol="0" anchor="ctr"/>
          <a:lstStyle/>
          <a:p>
            <a:pPr algn="ctr" indent="0" marL="0">
              <a:buNone/>
            </a:pPr>
            <a:r>
              <a:rPr lang="en-US" sz="1400" b="1" dirty="0">
                <a:solidFill>
                  <a:srgbClr val="1A1A1A"/>
                </a:solidFill>
                <a:latin typeface="Helvetica" pitchFamily="34" charset="0"/>
                <a:ea typeface="Helvetica" pitchFamily="34" charset="-122"/>
                <a:cs typeface="Helvetica" pitchFamily="34" charset="-120"/>
              </a:rPr>
              <a:t>Kitchen</a:t>
            </a:r>
            <a:endParaRPr lang="en-US" sz="1400" dirty="0"/>
          </a:p>
        </p:txBody>
      </p:sp>
      <p:sp>
        <p:nvSpPr>
          <p:cNvPr id="29" name="Shape 27"/>
          <p:cNvSpPr/>
          <p:nvPr/>
        </p:nvSpPr>
        <p:spPr>
          <a:xfrm>
            <a:off x="6903720" y="2267712"/>
            <a:ext cx="1280160" cy="27432"/>
          </a:xfrm>
          <a:prstGeom prst="rect">
            <a:avLst/>
          </a:prstGeom>
          <a:solidFill>
            <a:srgbClr val="C8A84E"/>
          </a:solidFill>
          <a:ln/>
        </p:spPr>
      </p:sp>
      <p:sp>
        <p:nvSpPr>
          <p:cNvPr id="30" name="Text 28"/>
          <p:cNvSpPr/>
          <p:nvPr/>
        </p:nvSpPr>
        <p:spPr>
          <a:xfrm>
            <a:off x="6355080" y="242316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Incoming order stream with real-time updates</a:t>
            </a:r>
            <a:endParaRPr lang="en-US" sz="950" dirty="0"/>
          </a:p>
        </p:txBody>
      </p:sp>
      <p:sp>
        <p:nvSpPr>
          <p:cNvPr id="31" name="Text 29"/>
          <p:cNvSpPr/>
          <p:nvPr/>
        </p:nvSpPr>
        <p:spPr>
          <a:xfrm>
            <a:off x="6355080" y="283464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Order preparation status (Received/Preparing/Done)</a:t>
            </a:r>
            <a:endParaRPr lang="en-US" sz="950" dirty="0"/>
          </a:p>
        </p:txBody>
      </p:sp>
      <p:sp>
        <p:nvSpPr>
          <p:cNvPr id="32" name="Text 30"/>
          <p:cNvSpPr/>
          <p:nvPr/>
        </p:nvSpPr>
        <p:spPr>
          <a:xfrm>
            <a:off x="6355080" y="324612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Dietary restriction flags on orders</a:t>
            </a:r>
            <a:endParaRPr lang="en-US" sz="950" dirty="0"/>
          </a:p>
        </p:txBody>
      </p:sp>
      <p:sp>
        <p:nvSpPr>
          <p:cNvPr id="33" name="Text 31"/>
          <p:cNvSpPr/>
          <p:nvPr/>
        </p:nvSpPr>
        <p:spPr>
          <a:xfrm>
            <a:off x="6355080" y="3657600"/>
            <a:ext cx="2377440" cy="365760"/>
          </a:xfrm>
          <a:prstGeom prst="rect">
            <a:avLst/>
          </a:prstGeom>
          <a:noFill/>
          <a:ln/>
        </p:spPr>
        <p:txBody>
          <a:bodyPr wrap="square" rtlCol="0" anchor="ctr"/>
          <a:lstStyle/>
          <a:p>
            <a:pPr indent="0" marL="0">
              <a:buNone/>
            </a:pPr>
            <a:r>
              <a:rPr lang="en-US" sz="950" dirty="0">
                <a:solidFill>
                  <a:srgbClr val="4A4A4A"/>
                </a:solidFill>
                <a:latin typeface="Helvetica" pitchFamily="34" charset="0"/>
                <a:ea typeface="Helvetica" pitchFamily="34" charset="-122"/>
                <a:cs typeface="Helvetica" pitchFamily="34" charset="-120"/>
              </a:rPr>
              <a:t>▸ Plate-up confirmation triggers delivery alert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KPIs Computed In-Database (Admin)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7 Live KPIs Powered by 4 PostgreSQL Stored Procedures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743200"/>
                <a:gridCol w="5486400"/>
              </a:tblGrid>
              <a:tr h="320040">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KPI</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Description</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Occupancy Rate</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 of rooms occupied over total available</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RevPAR</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Revenue Per Available Room</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ADR</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Average Daily Rate</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Guest Satisfaction</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Aggregated feedback score</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Length of Stay</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Average nights per booking</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Cancellation Rate</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 of bookings cancelled</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20040">
                <a:tc>
                  <a:txBody>
                    <a:bodyPr/>
                    <a:lstStyle/>
                    <a:p>
                      <a:pPr indent="0" marL="0">
                        <a:buNone/>
                      </a:pPr>
                      <a:r>
                        <a:rPr lang="en-US" sz="900" b="1" dirty="0">
                          <a:solidFill>
                            <a:srgbClr val="1A1A1A"/>
                          </a:solidFill>
                          <a:latin typeface="Helvetica" pitchFamily="34" charset="0"/>
                          <a:ea typeface="Helvetica" pitchFamily="34" charset="-122"/>
                          <a:cs typeface="Helvetica" pitchFamily="34" charset="-120"/>
                        </a:rPr>
                        <a:t>Housekeeping Turnaround</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4A4A4A"/>
                          </a:solidFill>
                          <a:latin typeface="Helvetica" pitchFamily="34" charset="0"/>
                          <a:ea typeface="Helvetica" pitchFamily="34" charset="-122"/>
                          <a:cs typeface="Helvetica" pitchFamily="34" charset="-120"/>
                        </a:rPr>
                        <a:t>Avg minutes to turn room</a:t>
                      </a:r>
                      <a:endParaRPr lang="en-US" sz="900" dirty="0">
                        <a:latin typeface="Helvetica" charset="0"/>
                        <a:ea typeface="Helvetica" charset="0"/>
                        <a:cs typeface="Helvetica" charset="0"/>
                      </a:endParaRPr>
                    </a:p>
                  </a:txBody>
                  <a:tcPr marL="63500" marR="63500" marT="38100" marB="381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8" name="Text 5"/>
          <p:cNvSpPr/>
          <p:nvPr/>
        </p:nvSpPr>
        <p:spPr>
          <a:xfrm>
            <a:off x="365760" y="4549140"/>
            <a:ext cx="8412480" cy="274320"/>
          </a:xfrm>
          <a:prstGeom prst="rect">
            <a:avLst/>
          </a:prstGeom>
          <a:noFill/>
          <a:ln/>
        </p:spPr>
        <p:txBody>
          <a:bodyPr wrap="square" rtlCol="0" anchor="ctr"/>
          <a:lstStyle/>
          <a:p>
            <a:pPr algn="ctr" indent="0" marL="0">
              <a:buNone/>
            </a:pPr>
            <a:r>
              <a:rPr lang="en-US" sz="900" dirty="0">
                <a:solidFill>
                  <a:srgbClr val="4A4A4A"/>
                </a:solidFill>
                <a:latin typeface="Helvetica" pitchFamily="34" charset="0"/>
                <a:ea typeface="Helvetica" pitchFamily="34" charset="-122"/>
                <a:cs typeface="Helvetica" pitchFamily="34" charset="-120"/>
              </a:rPr>
              <a:t>Rendered as dark-themed ECharts dashboards (bar, line, radar, pie) with date presets and category filters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Direct-to-Azure Uploads</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Securing the #1 Attack Vector with SAS Tokens</a:t>
            </a:r>
            <a:endParaRPr lang="en-US" sz="1200" dirty="0"/>
          </a:p>
        </p:txBody>
      </p:sp>
      <p:sp>
        <p:nvSpPr>
          <p:cNvPr id="7" name="Shape 5"/>
          <p:cNvSpPr/>
          <p:nvPr/>
        </p:nvSpPr>
        <p:spPr>
          <a:xfrm>
            <a:off x="365760" y="1051560"/>
            <a:ext cx="3840480" cy="1097280"/>
          </a:xfrm>
          <a:prstGeom prst="rect">
            <a:avLst>
              <a:gd name="adj" fmla="val 5000"/>
            </a:avLst>
          </a:prstGeom>
          <a:solidFill>
            <a:srgbClr val="FFF5F5"/>
          </a:solidFill>
          <a:ln w="9525">
            <a:solidFill>
              <a:srgbClr val="C0392B"/>
            </a:solidFill>
            <a:prstDash val="solid"/>
          </a:ln>
        </p:spPr>
      </p:sp>
      <p:sp>
        <p:nvSpPr>
          <p:cNvPr id="8" name="Text 6"/>
          <p:cNvSpPr/>
          <p:nvPr/>
        </p:nvSpPr>
        <p:spPr>
          <a:xfrm>
            <a:off x="502920" y="1097280"/>
            <a:ext cx="3566160" cy="201168"/>
          </a:xfrm>
          <a:prstGeom prst="rect">
            <a:avLst/>
          </a:prstGeom>
          <a:noFill/>
          <a:ln/>
        </p:spPr>
        <p:txBody>
          <a:bodyPr wrap="square" rtlCol="0" anchor="ctr"/>
          <a:lstStyle/>
          <a:p>
            <a:pPr indent="0" marL="0">
              <a:buNone/>
            </a:pPr>
            <a:r>
              <a:rPr lang="en-US" sz="1000" b="1" dirty="0">
                <a:solidFill>
                  <a:srgbClr val="C0392B"/>
                </a:solidFill>
                <a:latin typeface="Helvetica" pitchFamily="34" charset="0"/>
                <a:ea typeface="Helvetica" pitchFamily="34" charset="-122"/>
                <a:cs typeface="Helvetica" pitchFamily="34" charset="-120"/>
              </a:rPr>
              <a:t>The Problem</a:t>
            </a:r>
            <a:endParaRPr lang="en-US" sz="1000" dirty="0"/>
          </a:p>
        </p:txBody>
      </p:sp>
      <p:sp>
        <p:nvSpPr>
          <p:cNvPr id="9" name="Text 7"/>
          <p:cNvSpPr/>
          <p:nvPr/>
        </p:nvSpPr>
        <p:spPr>
          <a:xfrm>
            <a:off x="502920" y="1325880"/>
            <a:ext cx="3566160" cy="73152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File Uploads Are the #1 Attack Vector</a:t>
            </a:r>
            <a:endParaRPr lang="en-US" sz="850" dirty="0"/>
          </a:p>
          <a:p>
            <a:pPr indent="0" marL="0">
              <a:buNone/>
            </a:pPr>
            <a:r>
              <a:rPr lang="en-US" sz="850" dirty="0">
                <a:solidFill>
                  <a:srgbClr val="4A4A4A"/>
                </a:solidFill>
                <a:latin typeface="Helvetica" pitchFamily="34" charset="0"/>
                <a:ea typeface="Helvetica" pitchFamily="34" charset="-122"/>
                <a:cs typeface="Helvetica" pitchFamily="34" charset="-120"/>
              </a:rPr>
              <a:t>— Extension checks are trivial to bypass (renamed .exe passes)</a:t>
            </a:r>
            <a:endParaRPr lang="en-US" sz="850" dirty="0"/>
          </a:p>
          <a:p>
            <a:pPr indent="0" marL="0">
              <a:buNone/>
            </a:pPr>
            <a:r>
              <a:rPr lang="en-US" sz="850" dirty="0">
                <a:solidFill>
                  <a:srgbClr val="4A4A4A"/>
                </a:solidFill>
                <a:latin typeface="Helvetica" pitchFamily="34" charset="0"/>
                <a:ea typeface="Helvetica" pitchFamily="34" charset="-122"/>
                <a:cs typeface="Helvetica" pitchFamily="34" charset="-120"/>
              </a:rPr>
              <a:t>— Server-buffered bytes expose backend to resource exhaustion</a:t>
            </a:r>
            <a:endParaRPr lang="en-US" sz="850" dirty="0"/>
          </a:p>
        </p:txBody>
      </p:sp>
      <p:sp>
        <p:nvSpPr>
          <p:cNvPr id="10" name="Text 8"/>
          <p:cNvSpPr/>
          <p:nvPr/>
        </p:nvSpPr>
        <p:spPr>
          <a:xfrm>
            <a:off x="4572000" y="1051560"/>
            <a:ext cx="420624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Direct Upload Architecture (Zero-Byte Server Overhead)</a:t>
            </a:r>
            <a:endParaRPr lang="en-US" sz="1000" dirty="0"/>
          </a:p>
        </p:txBody>
      </p:sp>
      <p:sp>
        <p:nvSpPr>
          <p:cNvPr id="11" name="Text 9"/>
          <p:cNvSpPr/>
          <p:nvPr/>
        </p:nvSpPr>
        <p:spPr>
          <a:xfrm>
            <a:off x="4572000" y="1325880"/>
            <a:ext cx="420624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① Browser ➔ API: POST /upload-sas</a:t>
            </a:r>
            <a:endParaRPr lang="en-US" sz="850" dirty="0"/>
          </a:p>
        </p:txBody>
      </p:sp>
      <p:sp>
        <p:nvSpPr>
          <p:cNvPr id="12" name="Text 10"/>
          <p:cNvSpPr/>
          <p:nvPr/>
        </p:nvSpPr>
        <p:spPr>
          <a:xfrm>
            <a:off x="4572000" y="1581912"/>
            <a:ext cx="420624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② API ➔ Browser: Returns SAS URL</a:t>
            </a:r>
            <a:endParaRPr lang="en-US" sz="850" dirty="0"/>
          </a:p>
        </p:txBody>
      </p:sp>
      <p:sp>
        <p:nvSpPr>
          <p:cNvPr id="13" name="Text 11"/>
          <p:cNvSpPr/>
          <p:nvPr/>
        </p:nvSpPr>
        <p:spPr>
          <a:xfrm>
            <a:off x="4572000" y="1837944"/>
            <a:ext cx="420624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③ Browser ➔ Azure: PUT file directly</a:t>
            </a:r>
            <a:endParaRPr lang="en-US" sz="850" dirty="0"/>
          </a:p>
        </p:txBody>
      </p:sp>
      <p:sp>
        <p:nvSpPr>
          <p:cNvPr id="14" name="Text 12"/>
          <p:cNvSpPr/>
          <p:nvPr/>
        </p:nvSpPr>
        <p:spPr>
          <a:xfrm>
            <a:off x="4572000" y="2093976"/>
            <a:ext cx="420624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④ Browser ➔ API: POST /confirm</a:t>
            </a:r>
            <a:endParaRPr lang="en-US" sz="850" dirty="0"/>
          </a:p>
        </p:txBody>
      </p:sp>
      <p:sp>
        <p:nvSpPr>
          <p:cNvPr id="15" name="Text 13"/>
          <p:cNvSpPr/>
          <p:nvPr/>
        </p:nvSpPr>
        <p:spPr>
          <a:xfrm>
            <a:off x="4572000" y="2350008"/>
            <a:ext cx="420624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⑤ API ➔ Queue: Enqueues to Worker</a:t>
            </a:r>
            <a:endParaRPr lang="en-US" sz="850" dirty="0"/>
          </a:p>
        </p:txBody>
      </p:sp>
      <p:sp>
        <p:nvSpPr>
          <p:cNvPr id="16" name="Text 14"/>
          <p:cNvSpPr/>
          <p:nvPr/>
        </p:nvSpPr>
        <p:spPr>
          <a:xfrm>
            <a:off x="365760" y="2377440"/>
            <a:ext cx="365760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Defense-in-Depth</a:t>
            </a:r>
            <a:endParaRPr lang="en-US" sz="1100" dirty="0"/>
          </a:p>
        </p:txBody>
      </p:sp>
      <p:sp>
        <p:nvSpPr>
          <p:cNvPr id="17" name="Shape 15"/>
          <p:cNvSpPr/>
          <p:nvPr/>
        </p:nvSpPr>
        <p:spPr>
          <a:xfrm>
            <a:off x="365760" y="2697480"/>
            <a:ext cx="1828800" cy="292608"/>
          </a:xfrm>
          <a:prstGeom prst="rect">
            <a:avLst>
              <a:gd name="adj" fmla="val 15625"/>
            </a:avLst>
          </a:prstGeom>
          <a:solidFill>
            <a:srgbClr val="FFFFFF"/>
          </a:solidFill>
          <a:ln w="9525">
            <a:solidFill>
              <a:srgbClr val="E8E4DC"/>
            </a:solidFill>
            <a:prstDash val="solid"/>
          </a:ln>
        </p:spPr>
      </p:sp>
      <p:sp>
        <p:nvSpPr>
          <p:cNvPr id="18" name="Text 16"/>
          <p:cNvSpPr/>
          <p:nvPr/>
        </p:nvSpPr>
        <p:spPr>
          <a:xfrm>
            <a:off x="411480" y="271576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MIME Accept Attribute</a:t>
            </a:r>
            <a:endParaRPr lang="en-US" sz="850" dirty="0"/>
          </a:p>
        </p:txBody>
      </p:sp>
      <p:sp>
        <p:nvSpPr>
          <p:cNvPr id="19" name="Shape 17"/>
          <p:cNvSpPr/>
          <p:nvPr/>
        </p:nvSpPr>
        <p:spPr>
          <a:xfrm>
            <a:off x="365760" y="3063240"/>
            <a:ext cx="1828800" cy="292608"/>
          </a:xfrm>
          <a:prstGeom prst="rect">
            <a:avLst>
              <a:gd name="adj" fmla="val 15625"/>
            </a:avLst>
          </a:prstGeom>
          <a:solidFill>
            <a:srgbClr val="FFFFFF"/>
          </a:solidFill>
          <a:ln w="9525">
            <a:solidFill>
              <a:srgbClr val="E8E4DC"/>
            </a:solidFill>
            <a:prstDash val="solid"/>
          </a:ln>
        </p:spPr>
      </p:sp>
      <p:sp>
        <p:nvSpPr>
          <p:cNvPr id="20" name="Text 18"/>
          <p:cNvSpPr/>
          <p:nvPr/>
        </p:nvSpPr>
        <p:spPr>
          <a:xfrm>
            <a:off x="411480" y="308152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Extension Whitelist</a:t>
            </a:r>
            <a:endParaRPr lang="en-US" sz="850" dirty="0"/>
          </a:p>
        </p:txBody>
      </p:sp>
      <p:sp>
        <p:nvSpPr>
          <p:cNvPr id="21" name="Shape 19"/>
          <p:cNvSpPr/>
          <p:nvPr/>
        </p:nvSpPr>
        <p:spPr>
          <a:xfrm>
            <a:off x="365760" y="3429000"/>
            <a:ext cx="1828800" cy="292608"/>
          </a:xfrm>
          <a:prstGeom prst="rect">
            <a:avLst>
              <a:gd name="adj" fmla="val 15625"/>
            </a:avLst>
          </a:prstGeom>
          <a:solidFill>
            <a:srgbClr val="FFFFFF"/>
          </a:solidFill>
          <a:ln w="9525">
            <a:solidFill>
              <a:srgbClr val="E8E4DC"/>
            </a:solidFill>
            <a:prstDash val="solid"/>
          </a:ln>
        </p:spPr>
      </p:sp>
      <p:sp>
        <p:nvSpPr>
          <p:cNvPr id="22" name="Text 20"/>
          <p:cNvSpPr/>
          <p:nvPr/>
        </p:nvSpPr>
        <p:spPr>
          <a:xfrm>
            <a:off x="411480" y="344728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Size Limit: 10MB Max</a:t>
            </a:r>
            <a:endParaRPr lang="en-US" sz="850" dirty="0"/>
          </a:p>
        </p:txBody>
      </p:sp>
      <p:sp>
        <p:nvSpPr>
          <p:cNvPr id="23" name="Shape 21"/>
          <p:cNvSpPr/>
          <p:nvPr/>
        </p:nvSpPr>
        <p:spPr>
          <a:xfrm>
            <a:off x="365760" y="3794760"/>
            <a:ext cx="1828800" cy="292608"/>
          </a:xfrm>
          <a:prstGeom prst="rect">
            <a:avLst>
              <a:gd name="adj" fmla="val 15625"/>
            </a:avLst>
          </a:prstGeom>
          <a:solidFill>
            <a:srgbClr val="FFFFFF"/>
          </a:solidFill>
          <a:ln w="9525">
            <a:solidFill>
              <a:srgbClr val="E8E4DC"/>
            </a:solidFill>
            <a:prstDash val="solid"/>
          </a:ln>
        </p:spPr>
      </p:sp>
      <p:sp>
        <p:nvSpPr>
          <p:cNvPr id="24" name="Text 22"/>
          <p:cNvSpPr/>
          <p:nvPr/>
        </p:nvSpPr>
        <p:spPr>
          <a:xfrm>
            <a:off x="411480" y="381304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SAS URL: 15-Min Expiry</a:t>
            </a:r>
            <a:endParaRPr lang="en-US" sz="850" dirty="0"/>
          </a:p>
        </p:txBody>
      </p:sp>
      <p:sp>
        <p:nvSpPr>
          <p:cNvPr id="25" name="Shape 23"/>
          <p:cNvSpPr/>
          <p:nvPr/>
        </p:nvSpPr>
        <p:spPr>
          <a:xfrm>
            <a:off x="2331720" y="2697480"/>
            <a:ext cx="1828800" cy="292608"/>
          </a:xfrm>
          <a:prstGeom prst="rect">
            <a:avLst>
              <a:gd name="adj" fmla="val 15625"/>
            </a:avLst>
          </a:prstGeom>
          <a:solidFill>
            <a:srgbClr val="FFFFFF"/>
          </a:solidFill>
          <a:ln w="9525">
            <a:solidFill>
              <a:srgbClr val="E8E4DC"/>
            </a:solidFill>
            <a:prstDash val="solid"/>
          </a:ln>
        </p:spPr>
      </p:sp>
      <p:sp>
        <p:nvSpPr>
          <p:cNvPr id="26" name="Text 24"/>
          <p:cNvSpPr/>
          <p:nvPr/>
        </p:nvSpPr>
        <p:spPr>
          <a:xfrm>
            <a:off x="2377440" y="271576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SAS: Write+Create Only</a:t>
            </a:r>
            <a:endParaRPr lang="en-US" sz="850" dirty="0"/>
          </a:p>
        </p:txBody>
      </p:sp>
      <p:sp>
        <p:nvSpPr>
          <p:cNvPr id="27" name="Shape 25"/>
          <p:cNvSpPr/>
          <p:nvPr/>
        </p:nvSpPr>
        <p:spPr>
          <a:xfrm>
            <a:off x="2331720" y="3063240"/>
            <a:ext cx="1828800" cy="292608"/>
          </a:xfrm>
          <a:prstGeom prst="rect">
            <a:avLst>
              <a:gd name="adj" fmla="val 15625"/>
            </a:avLst>
          </a:prstGeom>
          <a:solidFill>
            <a:srgbClr val="FFFFFF"/>
          </a:solidFill>
          <a:ln w="9525">
            <a:solidFill>
              <a:srgbClr val="E8E4DC"/>
            </a:solidFill>
            <a:prstDash val="solid"/>
          </a:ln>
        </p:spPr>
      </p:sp>
      <p:sp>
        <p:nvSpPr>
          <p:cNvPr id="28" name="Text 26"/>
          <p:cNvSpPr/>
          <p:nvPr/>
        </p:nvSpPr>
        <p:spPr>
          <a:xfrm>
            <a:off x="2377440" y="308152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Ownership Check</a:t>
            </a:r>
            <a:endParaRPr lang="en-US" sz="850" dirty="0"/>
          </a:p>
        </p:txBody>
      </p:sp>
      <p:sp>
        <p:nvSpPr>
          <p:cNvPr id="29" name="Shape 27"/>
          <p:cNvSpPr/>
          <p:nvPr/>
        </p:nvSpPr>
        <p:spPr>
          <a:xfrm>
            <a:off x="2331720" y="3429000"/>
            <a:ext cx="1828800" cy="292608"/>
          </a:xfrm>
          <a:prstGeom prst="rect">
            <a:avLst>
              <a:gd name="adj" fmla="val 15625"/>
            </a:avLst>
          </a:prstGeom>
          <a:solidFill>
            <a:srgbClr val="FFFFFF"/>
          </a:solidFill>
          <a:ln w="9525">
            <a:solidFill>
              <a:srgbClr val="E8E4DC"/>
            </a:solidFill>
            <a:prstDash val="solid"/>
          </a:ln>
        </p:spPr>
      </p:sp>
      <p:sp>
        <p:nvSpPr>
          <p:cNvPr id="30" name="Text 28"/>
          <p:cNvSpPr/>
          <p:nvPr/>
        </p:nvSpPr>
        <p:spPr>
          <a:xfrm>
            <a:off x="2377440" y="344728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Magic Byte Validation</a:t>
            </a:r>
            <a:endParaRPr lang="en-US" sz="850" dirty="0"/>
          </a:p>
        </p:txBody>
      </p:sp>
      <p:sp>
        <p:nvSpPr>
          <p:cNvPr id="31" name="Shape 29"/>
          <p:cNvSpPr/>
          <p:nvPr/>
        </p:nvSpPr>
        <p:spPr>
          <a:xfrm>
            <a:off x="2331720" y="3794760"/>
            <a:ext cx="1828800" cy="292608"/>
          </a:xfrm>
          <a:prstGeom prst="rect">
            <a:avLst>
              <a:gd name="adj" fmla="val 15625"/>
            </a:avLst>
          </a:prstGeom>
          <a:solidFill>
            <a:srgbClr val="FFFFFF"/>
          </a:solidFill>
          <a:ln w="9525">
            <a:solidFill>
              <a:srgbClr val="E8E4DC"/>
            </a:solidFill>
            <a:prstDash val="solid"/>
          </a:ln>
        </p:spPr>
      </p:sp>
      <p:sp>
        <p:nvSpPr>
          <p:cNvPr id="32" name="Text 30"/>
          <p:cNvSpPr/>
          <p:nvPr/>
        </p:nvSpPr>
        <p:spPr>
          <a:xfrm>
            <a:off x="2377440" y="3813048"/>
            <a:ext cx="1737360" cy="256032"/>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Post-Upload Verification</a:t>
            </a:r>
            <a:endParaRPr lang="en-US" sz="850" dirty="0"/>
          </a:p>
        </p:txBody>
      </p:sp>
      <p:sp>
        <p:nvSpPr>
          <p:cNvPr id="33" name="Text 31"/>
          <p:cNvSpPr/>
          <p:nvPr/>
        </p:nvSpPr>
        <p:spPr>
          <a:xfrm>
            <a:off x="4572000" y="2377440"/>
            <a:ext cx="4206240" cy="228600"/>
          </a:xfrm>
          <a:prstGeom prst="rect">
            <a:avLst/>
          </a:prstGeom>
          <a:noFill/>
          <a:ln/>
        </p:spPr>
        <p:txBody>
          <a:bodyPr wrap="square" rtlCol="0" anchor="ctr"/>
          <a:lstStyle/>
          <a:p>
            <a:pPr indent="0" marL="0">
              <a:buNone/>
            </a:pPr>
            <a:r>
              <a:rPr lang="en-US" sz="1100" b="1" dirty="0">
                <a:solidFill>
                  <a:srgbClr val="B8963E"/>
                </a:solidFill>
                <a:latin typeface="Georgia" pitchFamily="34" charset="0"/>
                <a:ea typeface="Georgia" pitchFamily="34" charset="-122"/>
                <a:cs typeface="Georgia" pitchFamily="34" charset="-120"/>
              </a:rPr>
              <a:t>The file never touches the backend.</a:t>
            </a:r>
            <a:endParaRPr lang="en-US" sz="1100" dirty="0"/>
          </a:p>
        </p:txBody>
      </p:sp>
      <p:sp>
        <p:nvSpPr>
          <p:cNvPr id="34" name="Text 32"/>
          <p:cNvSpPr/>
          <p:nvPr/>
        </p:nvSpPr>
        <p:spPr>
          <a:xfrm>
            <a:off x="4572000" y="2651760"/>
            <a:ext cx="4206240" cy="91440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The server only generates a time-limited SAS token and returns the upload URL. The browser PUTs the file directly to Azure Blob Storage. No server memory consumed. No bandwidth through your API layer. No credentials exposed to the client.</a:t>
            </a:r>
            <a:endParaRPr lang="en-US" sz="900" dirty="0"/>
          </a:p>
        </p:txBody>
      </p:sp>
      <p:sp>
        <p:nvSpPr>
          <p:cNvPr id="35" name="Text 33"/>
          <p:cNvSpPr/>
          <p:nvPr/>
        </p:nvSpPr>
        <p:spPr>
          <a:xfrm>
            <a:off x="4572000" y="3474720"/>
            <a:ext cx="4206240" cy="54864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What the SAS token prevents: If intercepted, the token grants Write+Create on ONE blob only — no Read, no List, no Delete — and expires in 15 minutes.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Magic Byte Validation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Beyond Extension Checking — Zero-Trust File Security</a:t>
            </a:r>
            <a:endParaRPr lang="en-US" sz="1200" dirty="0"/>
          </a:p>
        </p:txBody>
      </p:sp>
      <p:sp>
        <p:nvSpPr>
          <p:cNvPr id="7" name="Shape 5"/>
          <p:cNvSpPr/>
          <p:nvPr/>
        </p:nvSpPr>
        <p:spPr>
          <a:xfrm>
            <a:off x="365760" y="1051560"/>
            <a:ext cx="4023360" cy="1097280"/>
          </a:xfrm>
          <a:prstGeom prst="rect">
            <a:avLst>
              <a:gd name="adj" fmla="val 5000"/>
            </a:avLst>
          </a:prstGeom>
          <a:solidFill>
            <a:srgbClr val="FFF5F5"/>
          </a:solidFill>
          <a:ln w="9525">
            <a:solidFill>
              <a:srgbClr val="C0392B"/>
            </a:solidFill>
            <a:prstDash val="solid"/>
          </a:ln>
        </p:spPr>
      </p:sp>
      <p:sp>
        <p:nvSpPr>
          <p:cNvPr id="8" name="Text 6"/>
          <p:cNvSpPr/>
          <p:nvPr/>
        </p:nvSpPr>
        <p:spPr>
          <a:xfrm>
            <a:off x="502920" y="1097280"/>
            <a:ext cx="3749040" cy="228600"/>
          </a:xfrm>
          <a:prstGeom prst="rect">
            <a:avLst/>
          </a:prstGeom>
          <a:noFill/>
          <a:ln/>
        </p:spPr>
        <p:txBody>
          <a:bodyPr wrap="square" rtlCol="0" anchor="ctr"/>
          <a:lstStyle/>
          <a:p>
            <a:pPr indent="0" marL="0">
              <a:buNone/>
            </a:pPr>
            <a:r>
              <a:rPr lang="en-US" sz="1000" b="1" dirty="0">
                <a:solidFill>
                  <a:srgbClr val="C0392B"/>
                </a:solidFill>
                <a:latin typeface="Helvetica" pitchFamily="34" charset="0"/>
                <a:ea typeface="Helvetica" pitchFamily="34" charset="-122"/>
                <a:cs typeface="Helvetica" pitchFamily="34" charset="-120"/>
              </a:rPr>
              <a:t>The Extension Bypass Vulnerability</a:t>
            </a:r>
            <a:endParaRPr lang="en-US" sz="1000" dirty="0"/>
          </a:p>
        </p:txBody>
      </p:sp>
      <p:sp>
        <p:nvSpPr>
          <p:cNvPr id="9" name="Text 7"/>
          <p:cNvSpPr/>
          <p:nvPr/>
        </p:nvSpPr>
        <p:spPr>
          <a:xfrm>
            <a:off x="502920" y="1371600"/>
            <a:ext cx="3749040" cy="68580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A file named image.jpg with executable content passes every traditional extension check. Most legacy systems stop validation here, exposing servers to severe exploits.</a:t>
            </a:r>
            <a:endParaRPr lang="en-US" sz="900" dirty="0"/>
          </a:p>
        </p:txBody>
      </p:sp>
      <p:sp>
        <p:nvSpPr>
          <p:cNvPr id="10" name="Text 8"/>
          <p:cNvSpPr/>
          <p:nvPr/>
        </p:nvSpPr>
        <p:spPr>
          <a:xfrm>
            <a:off x="4754880" y="1051560"/>
            <a:ext cx="402336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Aetheris Header Signature Check</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754880" y="1371600"/>
          <a:ext cx="4023360" cy="914400"/>
        </p:xfrm>
        <a:graphic>
          <a:graphicData uri="http://schemas.openxmlformats.org/drawingml/2006/table">
            <a:tbl>
              <a:tblPr/>
              <a:tblGrid>
                <a:gridCol w="1188720"/>
                <a:gridCol w="1645920"/>
                <a:gridCol w="1188720"/>
              </a:tblGrid>
              <a:tr h="292608">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Format</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Magic Bytes (Hex)</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Status</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r>
              <a:tr h="292608">
                <a:tc>
                  <a:txBody>
                    <a:bodyPr/>
                    <a:lstStyle/>
                    <a:p>
                      <a:pPr indent="0" marL="0">
                        <a:buNone/>
                      </a:pPr>
                      <a:r>
                        <a:rPr lang="en-US" sz="900" dirty="0">
                          <a:solidFill>
                            <a:srgbClr val="000000"/>
                          </a:solidFill>
                          <a:latin typeface="Menlo" pitchFamily="34" charset="0"/>
                          <a:ea typeface="Menlo" pitchFamily="34" charset="-122"/>
                          <a:cs typeface="Menlo" pitchFamily="34" charset="-120"/>
                        </a:rPr>
                        <a:t>JPEG</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000000"/>
                          </a:solidFill>
                          <a:latin typeface="Menlo" pitchFamily="34" charset="0"/>
                          <a:ea typeface="Menlo" pitchFamily="34" charset="-122"/>
                          <a:cs typeface="Menlo" pitchFamily="34" charset="-120"/>
                        </a:rPr>
                        <a:t>FF D8 FF</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b="1" dirty="0">
                          <a:solidFill>
                            <a:srgbClr val="2D7D46"/>
                          </a:solidFill>
                          <a:latin typeface="Helvetica" pitchFamily="34" charset="0"/>
                          <a:ea typeface="Helvetica" pitchFamily="34" charset="-122"/>
                          <a:cs typeface="Helvetica" pitchFamily="34" charset="-120"/>
                        </a:rPr>
                        <a:t>ALLOWED</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92608">
                <a:tc>
                  <a:txBody>
                    <a:bodyPr/>
                    <a:lstStyle/>
                    <a:p>
                      <a:pPr indent="0" marL="0">
                        <a:buNone/>
                      </a:pPr>
                      <a:r>
                        <a:rPr lang="en-US" sz="900" dirty="0">
                          <a:solidFill>
                            <a:srgbClr val="000000"/>
                          </a:solidFill>
                          <a:latin typeface="Menlo" pitchFamily="34" charset="0"/>
                          <a:ea typeface="Menlo" pitchFamily="34" charset="-122"/>
                          <a:cs typeface="Menlo" pitchFamily="34" charset="-120"/>
                        </a:rPr>
                        <a:t>PNG</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000000"/>
                          </a:solidFill>
                          <a:latin typeface="Menlo" pitchFamily="34" charset="0"/>
                          <a:ea typeface="Menlo" pitchFamily="34" charset="-122"/>
                          <a:cs typeface="Menlo" pitchFamily="34" charset="-120"/>
                        </a:rPr>
                        <a:t>89 50 4E 47...</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b="1" dirty="0">
                          <a:solidFill>
                            <a:srgbClr val="2D7D46"/>
                          </a:solidFill>
                          <a:latin typeface="Helvetica" pitchFamily="34" charset="0"/>
                          <a:ea typeface="Helvetica" pitchFamily="34" charset="-122"/>
                          <a:cs typeface="Helvetica" pitchFamily="34" charset="-120"/>
                        </a:rPr>
                        <a:t>ALLOWED</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92608">
                <a:tc>
                  <a:txBody>
                    <a:bodyPr/>
                    <a:lstStyle/>
                    <a:p>
                      <a:pPr indent="0" marL="0">
                        <a:buNone/>
                      </a:pPr>
                      <a:r>
                        <a:rPr lang="en-US" sz="900" dirty="0">
                          <a:solidFill>
                            <a:srgbClr val="000000"/>
                          </a:solidFill>
                          <a:latin typeface="Menlo" pitchFamily="34" charset="0"/>
                          <a:ea typeface="Menlo" pitchFamily="34" charset="-122"/>
                          <a:cs typeface="Menlo" pitchFamily="34" charset="-120"/>
                        </a:rPr>
                        <a:t>EXE / ELF</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dirty="0">
                          <a:solidFill>
                            <a:srgbClr val="000000"/>
                          </a:solidFill>
                          <a:latin typeface="Menlo" pitchFamily="34" charset="0"/>
                          <a:ea typeface="Menlo" pitchFamily="34" charset="-122"/>
                          <a:cs typeface="Menlo" pitchFamily="34" charset="-120"/>
                        </a:rPr>
                        <a:t>4D 5A / 7F...</a:t>
                      </a:r>
                      <a:endParaRPr lang="en-US" sz="900" dirty="0">
                        <a:latin typeface="Menlo" charset="0"/>
                        <a:ea typeface="Menlo" charset="0"/>
                        <a:cs typeface="Menlo"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900" b="1" dirty="0">
                          <a:solidFill>
                            <a:srgbClr val="C0392B"/>
                          </a:solidFill>
                          <a:latin typeface="Helvetica" pitchFamily="34" charset="0"/>
                          <a:ea typeface="Helvetica" pitchFamily="34" charset="-122"/>
                          <a:cs typeface="Helvetica" pitchFamily="34" charset="-120"/>
                        </a:rPr>
                        <a:t>BLOCKED</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12" name="Shape 9"/>
          <p:cNvSpPr/>
          <p:nvPr/>
        </p:nvSpPr>
        <p:spPr>
          <a:xfrm>
            <a:off x="365760" y="2377440"/>
            <a:ext cx="8412480" cy="1463040"/>
          </a:xfrm>
          <a:prstGeom prst="rect">
            <a:avLst>
              <a:gd name="adj" fmla="val 3750"/>
            </a:avLst>
          </a:prstGeom>
          <a:solidFill>
            <a:srgbClr val="F8F6F2"/>
          </a:solidFill>
          <a:ln w="9525">
            <a:solidFill>
              <a:srgbClr val="E8E4DC"/>
            </a:solidFill>
            <a:prstDash val="solid"/>
          </a:ln>
        </p:spPr>
      </p:sp>
      <p:sp>
        <p:nvSpPr>
          <p:cNvPr id="13" name="Text 10"/>
          <p:cNvSpPr/>
          <p:nvPr/>
        </p:nvSpPr>
        <p:spPr>
          <a:xfrm>
            <a:off x="548640" y="2423160"/>
            <a:ext cx="8046720" cy="1325880"/>
          </a:xfrm>
          <a:prstGeom prst="rect">
            <a:avLst/>
          </a:prstGeom>
          <a:noFill/>
          <a:ln/>
        </p:spPr>
        <p:txBody>
          <a:bodyPr wrap="square" rtlCol="0" anchor="ctr"/>
          <a:lstStyle/>
          <a:p>
            <a:pPr indent="0" marL="0">
              <a:lnSpc>
                <a:spcPct val="95000"/>
              </a:lnSpc>
              <a:buNone/>
            </a:pPr>
            <a:r>
              <a:rPr lang="en-US" sz="950" dirty="0">
                <a:solidFill>
                  <a:srgbClr val="1A1A1A"/>
                </a:solidFill>
                <a:latin typeface="Menlo" pitchFamily="34" charset="0"/>
                <a:ea typeface="Menlo" pitchFamily="34" charset="-122"/>
                <a:cs typeface="Menlo" pitchFamily="34" charset="-120"/>
              </a:rPr>
              <a:t>// Download first 512 bytes &amp; verify</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var header = await blob.DownloadRangeAsync(0, 512);</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if (!MagicBytes.IsValid(header, out var ext))</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    await blob.DeleteAsync(); // Immediate purge</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    throw new SecurityException("Disguised executable");</a:t>
            </a:r>
            <a:endParaRPr lang="en-US" sz="950" dirty="0"/>
          </a:p>
          <a:p>
            <a:pPr indent="0" marL="0">
              <a:lnSpc>
                <a:spcPct val="95000"/>
              </a:lnSpc>
              <a:buNone/>
            </a:pPr>
            <a:r>
              <a:rPr lang="en-US" sz="950" dirty="0">
                <a:solidFill>
                  <a:srgbClr val="1A1A1A"/>
                </a:solidFill>
                <a:latin typeface="Menlo" pitchFamily="34" charset="0"/>
                <a:ea typeface="Menlo" pitchFamily="34" charset="-122"/>
                <a:cs typeface="Menlo" pitchFamily="34" charset="-120"/>
              </a:rPr>
              <a:t>}</a:t>
            </a:r>
            <a:endParaRPr lang="en-US" sz="950" dirty="0"/>
          </a:p>
        </p:txBody>
      </p:sp>
      <p:sp>
        <p:nvSpPr>
          <p:cNvPr id="14" name="Text 11"/>
          <p:cNvSpPr/>
          <p:nvPr/>
        </p:nvSpPr>
        <p:spPr>
          <a:xfrm>
            <a:off x="365760" y="4023360"/>
            <a:ext cx="8412480" cy="274320"/>
          </a:xfrm>
          <a:prstGeom prst="rect">
            <a:avLst/>
          </a:prstGeom>
          <a:noFill/>
          <a:ln/>
        </p:spPr>
        <p:txBody>
          <a:bodyPr wrap="square" rtlCol="0" anchor="ctr"/>
          <a:lstStyle/>
          <a:p>
            <a:pPr algn="ctr" indent="0" marL="0">
              <a:buNone/>
            </a:pPr>
            <a:r>
              <a:rPr lang="en-US" sz="1000" i="1" dirty="0">
                <a:solidFill>
                  <a:srgbClr val="B8963E"/>
                </a:solidFill>
                <a:latin typeface="Georgia" pitchFamily="34" charset="0"/>
                <a:ea typeface="Georgia" pitchFamily="34" charset="-122"/>
                <a:cs typeface="Georgia" pitchFamily="34" charset="-120"/>
              </a:rPr>
              <a:t>Enterprise-grade content validation in a modern hotel operating system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Async Architecture &amp; Multi-Tier Cleanup</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100" dirty="0">
                <a:solidFill>
                  <a:srgbClr val="4A4A4A"/>
                </a:solidFill>
                <a:latin typeface="Helvetica" pitchFamily="34" charset="0"/>
                <a:ea typeface="Helvetica" pitchFamily="34" charset="-122"/>
                <a:cs typeface="Helvetica" pitchFamily="34" charset="-120"/>
              </a:rPr>
              <a:t>Validation shouldn't block HTTP requests, and orphaned blobs cost money. Defense in depth for your Azure bill.</a:t>
            </a:r>
            <a:endParaRPr lang="en-US" sz="1100" dirty="0"/>
          </a:p>
        </p:txBody>
      </p:sp>
      <p:sp>
        <p:nvSpPr>
          <p:cNvPr id="7" name="Shape 5"/>
          <p:cNvSpPr/>
          <p:nvPr/>
        </p:nvSpPr>
        <p:spPr>
          <a:xfrm>
            <a:off x="320040" y="1051560"/>
            <a:ext cx="2743200" cy="1828800"/>
          </a:xfrm>
          <a:prstGeom prst="rect">
            <a:avLst>
              <a:gd name="adj" fmla="val 4000"/>
            </a:avLst>
          </a:prstGeom>
          <a:solidFill>
            <a:srgbClr val="FFFFFF"/>
          </a:solidFill>
          <a:ln w="9525">
            <a:solidFill>
              <a:srgbClr val="E8E4DC"/>
            </a:solidFill>
            <a:prstDash val="solid"/>
          </a:ln>
        </p:spPr>
      </p:sp>
      <p:sp>
        <p:nvSpPr>
          <p:cNvPr id="8" name="Shape 6"/>
          <p:cNvSpPr/>
          <p:nvPr/>
        </p:nvSpPr>
        <p:spPr>
          <a:xfrm>
            <a:off x="320040" y="1051560"/>
            <a:ext cx="2743200" cy="36576"/>
          </a:xfrm>
          <a:prstGeom prst="rect">
            <a:avLst/>
          </a:prstGeom>
          <a:solidFill>
            <a:srgbClr val="C8A84E"/>
          </a:solidFill>
          <a:ln/>
        </p:spPr>
      </p:sp>
      <p:sp>
        <p:nvSpPr>
          <p:cNvPr id="9" name="Text 7"/>
          <p:cNvSpPr/>
          <p:nvPr/>
        </p:nvSpPr>
        <p:spPr>
          <a:xfrm>
            <a:off x="429768" y="1188720"/>
            <a:ext cx="2514600" cy="182880"/>
          </a:xfrm>
          <a:prstGeom prst="rect">
            <a:avLst/>
          </a:prstGeom>
          <a:noFill/>
          <a:ln/>
        </p:spPr>
        <p:txBody>
          <a:bodyPr wrap="square" rtlCol="0" anchor="ctr"/>
          <a:lstStyle/>
          <a:p>
            <a:pPr indent="0" marL="0">
              <a:buNone/>
            </a:pPr>
            <a:r>
              <a:rPr lang="en-US" sz="900" b="1" dirty="0">
                <a:solidFill>
                  <a:srgbClr val="C8A84E"/>
                </a:solidFill>
                <a:latin typeface="Helvetica" pitchFamily="34" charset="0"/>
                <a:ea typeface="Helvetica" pitchFamily="34" charset="-122"/>
                <a:cs typeface="Helvetica" pitchFamily="34" charset="-120"/>
              </a:rPr>
              <a:t>Queue-Triggered</a:t>
            </a:r>
            <a:endParaRPr lang="en-US" sz="900" dirty="0"/>
          </a:p>
        </p:txBody>
      </p:sp>
      <p:sp>
        <p:nvSpPr>
          <p:cNvPr id="10" name="Text 8"/>
          <p:cNvSpPr/>
          <p:nvPr/>
        </p:nvSpPr>
        <p:spPr>
          <a:xfrm>
            <a:off x="429768" y="1371600"/>
            <a:ext cx="2514600" cy="182880"/>
          </a:xfrm>
          <a:prstGeom prst="rect">
            <a:avLst/>
          </a:prstGeom>
          <a:noFill/>
          <a:ln/>
        </p:spPr>
        <p:txBody>
          <a:bodyPr wrap="square" rtlCol="0" anchor="ctr"/>
          <a:lstStyle/>
          <a:p>
            <a:pPr indent="0" marL="0">
              <a:buNone/>
            </a:pPr>
            <a:r>
              <a:rPr lang="en-US" sz="1100" b="1" dirty="0">
                <a:solidFill>
                  <a:srgbClr val="1A1A1A"/>
                </a:solidFill>
                <a:latin typeface="Menlo" pitchFamily="34" charset="0"/>
                <a:ea typeface="Menlo" pitchFamily="34" charset="-122"/>
                <a:cs typeface="Menlo" pitchFamily="34" charset="-120"/>
              </a:rPr>
              <a:t>ImageValidationWorker</a:t>
            </a:r>
            <a:endParaRPr lang="en-US" sz="1100" dirty="0"/>
          </a:p>
        </p:txBody>
      </p:sp>
      <p:sp>
        <p:nvSpPr>
          <p:cNvPr id="11" name="Text 9"/>
          <p:cNvSpPr/>
          <p:nvPr/>
        </p:nvSpPr>
        <p:spPr>
          <a:xfrm>
            <a:off x="429768" y="1600200"/>
            <a:ext cx="2514600" cy="118872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Triggered by Azure Queue for async validation. Fast checks of magic bytes and size constraints run safely out-of-band without stalling HTTP requests.</a:t>
            </a:r>
            <a:endParaRPr lang="en-US" sz="850" dirty="0"/>
          </a:p>
        </p:txBody>
      </p:sp>
      <p:sp>
        <p:nvSpPr>
          <p:cNvPr id="12" name="Shape 10"/>
          <p:cNvSpPr/>
          <p:nvPr/>
        </p:nvSpPr>
        <p:spPr>
          <a:xfrm>
            <a:off x="3246120" y="1051560"/>
            <a:ext cx="2743200" cy="1828800"/>
          </a:xfrm>
          <a:prstGeom prst="rect">
            <a:avLst>
              <a:gd name="adj" fmla="val 4000"/>
            </a:avLst>
          </a:prstGeom>
          <a:solidFill>
            <a:srgbClr val="FFFFFF"/>
          </a:solidFill>
          <a:ln w="9525">
            <a:solidFill>
              <a:srgbClr val="E8E4DC"/>
            </a:solidFill>
            <a:prstDash val="solid"/>
          </a:ln>
        </p:spPr>
      </p:sp>
      <p:sp>
        <p:nvSpPr>
          <p:cNvPr id="13" name="Shape 11"/>
          <p:cNvSpPr/>
          <p:nvPr/>
        </p:nvSpPr>
        <p:spPr>
          <a:xfrm>
            <a:off x="3246120" y="1051560"/>
            <a:ext cx="2743200" cy="36576"/>
          </a:xfrm>
          <a:prstGeom prst="rect">
            <a:avLst/>
          </a:prstGeom>
          <a:solidFill>
            <a:srgbClr val="2D7D46"/>
          </a:solidFill>
          <a:ln/>
        </p:spPr>
      </p:sp>
      <p:sp>
        <p:nvSpPr>
          <p:cNvPr id="14" name="Text 12"/>
          <p:cNvSpPr/>
          <p:nvPr/>
        </p:nvSpPr>
        <p:spPr>
          <a:xfrm>
            <a:off x="3355848" y="1188720"/>
            <a:ext cx="2514600" cy="182880"/>
          </a:xfrm>
          <a:prstGeom prst="rect">
            <a:avLst/>
          </a:prstGeom>
          <a:noFill/>
          <a:ln/>
        </p:spPr>
        <p:txBody>
          <a:bodyPr wrap="square" rtlCol="0" anchor="ctr"/>
          <a:lstStyle/>
          <a:p>
            <a:pPr indent="0" marL="0">
              <a:buNone/>
            </a:pPr>
            <a:r>
              <a:rPr lang="en-US" sz="900" b="1" dirty="0">
                <a:solidFill>
                  <a:srgbClr val="2D7D46"/>
                </a:solidFill>
                <a:latin typeface="Helvetica" pitchFamily="34" charset="0"/>
                <a:ea typeface="Helvetica" pitchFamily="34" charset="-122"/>
                <a:cs typeface="Helvetica" pitchFamily="34" charset="-120"/>
              </a:rPr>
              <a:t>Hourly Cleanup</a:t>
            </a:r>
            <a:endParaRPr lang="en-US" sz="900" dirty="0"/>
          </a:p>
        </p:txBody>
      </p:sp>
      <p:sp>
        <p:nvSpPr>
          <p:cNvPr id="15" name="Text 13"/>
          <p:cNvSpPr/>
          <p:nvPr/>
        </p:nvSpPr>
        <p:spPr>
          <a:xfrm>
            <a:off x="3355848" y="1371600"/>
            <a:ext cx="2514600" cy="182880"/>
          </a:xfrm>
          <a:prstGeom prst="rect">
            <a:avLst/>
          </a:prstGeom>
          <a:noFill/>
          <a:ln/>
        </p:spPr>
        <p:txBody>
          <a:bodyPr wrap="square" rtlCol="0" anchor="ctr"/>
          <a:lstStyle/>
          <a:p>
            <a:pPr indent="0" marL="0">
              <a:buNone/>
            </a:pPr>
            <a:r>
              <a:rPr lang="en-US" sz="1100" b="1" dirty="0">
                <a:solidFill>
                  <a:srgbClr val="1A1A1A"/>
                </a:solidFill>
                <a:latin typeface="Menlo" pitchFamily="34" charset="0"/>
                <a:ea typeface="Menlo" pitchFamily="34" charset="-122"/>
                <a:cs typeface="Menlo" pitchFamily="34" charset="-120"/>
              </a:rPr>
              <a:t>OrphanImageCleanup</a:t>
            </a:r>
            <a:endParaRPr lang="en-US" sz="1100" dirty="0"/>
          </a:p>
        </p:txBody>
      </p:sp>
      <p:sp>
        <p:nvSpPr>
          <p:cNvPr id="16" name="Text 14"/>
          <p:cNvSpPr/>
          <p:nvPr/>
        </p:nvSpPr>
        <p:spPr>
          <a:xfrm>
            <a:off x="3355848" y="1600200"/>
            <a:ext cx="2514600" cy="118872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Runs on hourly cron to expire stale client upload sessions. Ensures orphaned storage blocks are systematically purged.</a:t>
            </a:r>
            <a:endParaRPr lang="en-US" sz="850" dirty="0"/>
          </a:p>
        </p:txBody>
      </p:sp>
      <p:sp>
        <p:nvSpPr>
          <p:cNvPr id="17" name="Shape 15"/>
          <p:cNvSpPr/>
          <p:nvPr/>
        </p:nvSpPr>
        <p:spPr>
          <a:xfrm>
            <a:off x="6172200" y="1051560"/>
            <a:ext cx="2743200" cy="1828800"/>
          </a:xfrm>
          <a:prstGeom prst="rect">
            <a:avLst>
              <a:gd name="adj" fmla="val 4000"/>
            </a:avLst>
          </a:prstGeom>
          <a:solidFill>
            <a:srgbClr val="FFFFFF"/>
          </a:solidFill>
          <a:ln w="9525">
            <a:solidFill>
              <a:srgbClr val="E8E4DC"/>
            </a:solidFill>
            <a:prstDash val="solid"/>
          </a:ln>
        </p:spPr>
      </p:sp>
      <p:sp>
        <p:nvSpPr>
          <p:cNvPr id="18" name="Shape 16"/>
          <p:cNvSpPr/>
          <p:nvPr/>
        </p:nvSpPr>
        <p:spPr>
          <a:xfrm>
            <a:off x="6172200" y="1051560"/>
            <a:ext cx="2743200" cy="36576"/>
          </a:xfrm>
          <a:prstGeom prst="rect">
            <a:avLst/>
          </a:prstGeom>
          <a:solidFill>
            <a:srgbClr val="C0392B"/>
          </a:solidFill>
          <a:ln/>
        </p:spPr>
      </p:sp>
      <p:sp>
        <p:nvSpPr>
          <p:cNvPr id="19" name="Text 17"/>
          <p:cNvSpPr/>
          <p:nvPr/>
        </p:nvSpPr>
        <p:spPr>
          <a:xfrm>
            <a:off x="6281928" y="1188720"/>
            <a:ext cx="2514600" cy="182880"/>
          </a:xfrm>
          <a:prstGeom prst="rect">
            <a:avLst/>
          </a:prstGeom>
          <a:noFill/>
          <a:ln/>
        </p:spPr>
        <p:txBody>
          <a:bodyPr wrap="square" rtlCol="0" anchor="ctr"/>
          <a:lstStyle/>
          <a:p>
            <a:pPr indent="0" marL="0">
              <a:buNone/>
            </a:pPr>
            <a:r>
              <a:rPr lang="en-US" sz="900" b="1" dirty="0">
                <a:solidFill>
                  <a:srgbClr val="C0392B"/>
                </a:solidFill>
                <a:latin typeface="Helvetica" pitchFamily="34" charset="0"/>
                <a:ea typeface="Helvetica" pitchFamily="34" charset="-122"/>
                <a:cs typeface="Helvetica" pitchFamily="34" charset="-120"/>
              </a:rPr>
              <a:t>Periodic Reconciliation</a:t>
            </a:r>
            <a:endParaRPr lang="en-US" sz="900" dirty="0"/>
          </a:p>
        </p:txBody>
      </p:sp>
      <p:sp>
        <p:nvSpPr>
          <p:cNvPr id="20" name="Text 18"/>
          <p:cNvSpPr/>
          <p:nvPr/>
        </p:nvSpPr>
        <p:spPr>
          <a:xfrm>
            <a:off x="6281928" y="1371600"/>
            <a:ext cx="2514600" cy="182880"/>
          </a:xfrm>
          <a:prstGeom prst="rect">
            <a:avLst/>
          </a:prstGeom>
          <a:noFill/>
          <a:ln/>
        </p:spPr>
        <p:txBody>
          <a:bodyPr wrap="square" rtlCol="0" anchor="ctr"/>
          <a:lstStyle/>
          <a:p>
            <a:pPr indent="0" marL="0">
              <a:buNone/>
            </a:pPr>
            <a:r>
              <a:rPr lang="en-US" sz="1100" b="1" dirty="0">
                <a:solidFill>
                  <a:srgbClr val="1A1A1A"/>
                </a:solidFill>
                <a:latin typeface="Menlo" pitchFamily="34" charset="0"/>
                <a:ea typeface="Menlo" pitchFamily="34" charset="-122"/>
                <a:cs typeface="Menlo" pitchFamily="34" charset="-120"/>
              </a:rPr>
              <a:t>BlobCleanupWorker</a:t>
            </a:r>
            <a:endParaRPr lang="en-US" sz="1100" dirty="0"/>
          </a:p>
        </p:txBody>
      </p:sp>
      <p:sp>
        <p:nvSpPr>
          <p:cNvPr id="21" name="Text 19"/>
          <p:cNvSpPr/>
          <p:nvPr/>
        </p:nvSpPr>
        <p:spPr>
          <a:xfrm>
            <a:off x="6281928" y="1600200"/>
            <a:ext cx="2514600" cy="118872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Performs complete container-wide storage scan. Reconciles physical blobs with database records, isolating untracked files.</a:t>
            </a:r>
            <a:endParaRPr lang="en-US" sz="850" dirty="0"/>
          </a:p>
        </p:txBody>
      </p:sp>
      <p:sp>
        <p:nvSpPr>
          <p:cNvPr id="22" name="Shape 20"/>
          <p:cNvSpPr/>
          <p:nvPr/>
        </p:nvSpPr>
        <p:spPr>
          <a:xfrm>
            <a:off x="365760" y="3108960"/>
            <a:ext cx="8412480" cy="1188720"/>
          </a:xfrm>
          <a:prstGeom prst="rect">
            <a:avLst>
              <a:gd name="adj" fmla="val 6154"/>
            </a:avLst>
          </a:prstGeom>
          <a:solidFill>
            <a:srgbClr val="FFF8E8"/>
          </a:solidFill>
          <a:ln w="9525">
            <a:solidFill>
              <a:srgbClr val="C8A84E"/>
            </a:solidFill>
            <a:prstDash val="solid"/>
          </a:ln>
        </p:spPr>
      </p:sp>
      <p:sp>
        <p:nvSpPr>
          <p:cNvPr id="23" name="Text 21"/>
          <p:cNvSpPr/>
          <p:nvPr/>
        </p:nvSpPr>
        <p:spPr>
          <a:xfrm>
            <a:off x="548640" y="3200400"/>
            <a:ext cx="8046720" cy="1005840"/>
          </a:xfrm>
          <a:prstGeom prst="rect">
            <a:avLst/>
          </a:prstGeom>
          <a:noFill/>
          <a:ln/>
        </p:spPr>
        <p:txBody>
          <a:bodyPr wrap="square" rtlCol="0" anchor="ctr"/>
          <a:lstStyle/>
          <a:p>
            <a:pPr indent="0" marL="0">
              <a:lnSpc>
                <a:spcPct val="100000"/>
              </a:lnSpc>
              <a:buNone/>
            </a:pPr>
            <a:r>
              <a:rPr lang="en-US" sz="1000" dirty="0">
                <a:solidFill>
                  <a:srgbClr val="1A1A1A"/>
                </a:solidFill>
                <a:latin typeface="Menlo" pitchFamily="34" charset="0"/>
                <a:ea typeface="Menlo" pitchFamily="34" charset="-122"/>
                <a:cs typeface="Menlo" pitchFamily="34" charset="-120"/>
              </a:rPr>
              <a:t>SUCCESS PATH                           CLEANUP PATH</a:t>
            </a:r>
            <a:endParaRPr lang="en-US" sz="1000" dirty="0"/>
          </a:p>
          <a:p>
            <a:pPr indent="0" marL="0">
              <a:lnSpc>
                <a:spcPct val="100000"/>
              </a:lnSpc>
              <a:buNone/>
            </a:pPr>
            <a:endParaRPr lang="en-US" sz="1000" dirty="0"/>
          </a:p>
          <a:p>
            <a:pPr indent="0" marL="0">
              <a:lnSpc>
                <a:spcPct val="100000"/>
              </a:lnSpc>
              <a:buNone/>
            </a:pPr>
            <a:r>
              <a:rPr lang="en-US" sz="1000" dirty="0">
                <a:solidFill>
                  <a:srgbClr val="1A1A1A"/>
                </a:solidFill>
                <a:latin typeface="Menlo" pitchFamily="34" charset="0"/>
                <a:ea typeface="Menlo" pitchFamily="34" charset="-122"/>
                <a:cs typeface="Menlo" pitchFamily="34" charset="-120"/>
              </a:rPr>
              <a:t>PENDING ──▶ CONFIRMED ──▶ ATTACHED ──▶ DB PERSISTED</a:t>
            </a:r>
            <a:endParaRPr lang="en-US" sz="1000" dirty="0"/>
          </a:p>
          <a:p>
            <a:pPr indent="0" marL="0">
              <a:lnSpc>
                <a:spcPct val="100000"/>
              </a:lnSpc>
              <a:buNone/>
            </a:pPr>
            <a:r>
              <a:rPr lang="en-US" sz="1000" dirty="0">
                <a:solidFill>
                  <a:srgbClr val="1A1A1A"/>
                </a:solidFill>
                <a:latin typeface="Menlo" pitchFamily="34" charset="0"/>
                <a:ea typeface="Menlo" pitchFamily="34" charset="-122"/>
                <a:cs typeface="Menlo" pitchFamily="34" charset="-120"/>
              </a:rPr>
              <a:t>                                  </a:t>
            </a:r>
            <a:endParaRPr lang="en-US" sz="1000" dirty="0"/>
          </a:p>
          <a:p>
            <a:pPr indent="0" marL="0">
              <a:lnSpc>
                <a:spcPct val="100000"/>
              </a:lnSpc>
              <a:buNone/>
            </a:pPr>
            <a:r>
              <a:rPr lang="en-US" sz="1000" dirty="0">
                <a:solidFill>
                  <a:srgbClr val="1A1A1A"/>
                </a:solidFill>
                <a:latin typeface="Menlo" pitchFamily="34" charset="0"/>
                <a:ea typeface="Menlo" pitchFamily="34" charset="-122"/>
                <a:cs typeface="Menlo" pitchFamily="34" charset="-120"/>
              </a:rPr>
              <a:t>                    REJECTED ──▶ DELETED ──▶ BLOB PURGED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Atlas: The AI Concierge</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100" dirty="0">
                <a:solidFill>
                  <a:srgbClr val="4A4A4A"/>
                </a:solidFill>
                <a:latin typeface="Helvetica" pitchFamily="34" charset="0"/>
                <a:ea typeface="Helvetica" pitchFamily="34" charset="-122"/>
                <a:cs typeface="Helvetica" pitchFamily="34" charset="-120"/>
              </a:rPr>
              <a:t>Problem: Guests need 24/7 service, but staff can't be everywhere (no one to call at 2 AM).</a:t>
            </a:r>
            <a:endParaRPr lang="en-US" sz="1100" dirty="0"/>
          </a:p>
        </p:txBody>
      </p:sp>
      <p:sp>
        <p:nvSpPr>
          <p:cNvPr id="7" name="Shape 5"/>
          <p:cNvSpPr/>
          <p:nvPr/>
        </p:nvSpPr>
        <p:spPr>
          <a:xfrm>
            <a:off x="365760" y="1051560"/>
            <a:ext cx="4023360" cy="502920"/>
          </a:xfrm>
          <a:prstGeom prst="rect">
            <a:avLst>
              <a:gd name="adj" fmla="val 10909"/>
            </a:avLst>
          </a:prstGeom>
          <a:solidFill>
            <a:srgbClr val="FFFFFF"/>
          </a:solidFill>
          <a:ln w="9525">
            <a:solidFill>
              <a:srgbClr val="E8E4DC"/>
            </a:solidFill>
            <a:prstDash val="solid"/>
          </a:ln>
        </p:spPr>
      </p:sp>
      <p:sp>
        <p:nvSpPr>
          <p:cNvPr id="8" name="Text 6"/>
          <p:cNvSpPr/>
          <p:nvPr/>
        </p:nvSpPr>
        <p:spPr>
          <a:xfrm>
            <a:off x="502920" y="1078992"/>
            <a:ext cx="3749040" cy="228600"/>
          </a:xfrm>
          <a:prstGeom prst="rect">
            <a:avLst/>
          </a:prstGeom>
          <a:noFill/>
          <a:ln/>
        </p:spPr>
        <p:txBody>
          <a:bodyPr wrap="square" rtlCol="0" anchor="ctr"/>
          <a:lstStyle/>
          <a:p>
            <a:pPr indent="0" marL="0">
              <a:buNone/>
            </a:pPr>
            <a:r>
              <a:rPr lang="en-US" sz="950" b="1" dirty="0">
                <a:solidFill>
                  <a:srgbClr val="B8963E"/>
                </a:solidFill>
                <a:latin typeface="Menlo" pitchFamily="34" charset="0"/>
                <a:ea typeface="Menlo" pitchFamily="34" charset="-122"/>
                <a:cs typeface="Menlo" pitchFamily="34" charset="-120"/>
              </a:rPr>
              <a:t>GUEST CHAT UI</a:t>
            </a:r>
            <a:endParaRPr lang="en-US" sz="950" dirty="0"/>
          </a:p>
        </p:txBody>
      </p:sp>
      <p:sp>
        <p:nvSpPr>
          <p:cNvPr id="9" name="Text 7"/>
          <p:cNvSpPr/>
          <p:nvPr/>
        </p:nvSpPr>
        <p:spPr>
          <a:xfrm>
            <a:off x="502920" y="1280160"/>
            <a:ext cx="374904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Web interface connecting guests to the concierge.</a:t>
            </a:r>
            <a:endParaRPr lang="en-US" sz="850" dirty="0"/>
          </a:p>
        </p:txBody>
      </p:sp>
      <p:sp>
        <p:nvSpPr>
          <p:cNvPr id="10" name="Text 8"/>
          <p:cNvSpPr/>
          <p:nvPr/>
        </p:nvSpPr>
        <p:spPr>
          <a:xfrm>
            <a:off x="2194560" y="1554480"/>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11" name="Shape 9"/>
          <p:cNvSpPr/>
          <p:nvPr/>
        </p:nvSpPr>
        <p:spPr>
          <a:xfrm>
            <a:off x="365760" y="1645920"/>
            <a:ext cx="4023360" cy="502920"/>
          </a:xfrm>
          <a:prstGeom prst="rect">
            <a:avLst>
              <a:gd name="adj" fmla="val 10909"/>
            </a:avLst>
          </a:prstGeom>
          <a:solidFill>
            <a:srgbClr val="FFFFFF"/>
          </a:solidFill>
          <a:ln w="9525">
            <a:solidFill>
              <a:srgbClr val="E8E4DC"/>
            </a:solidFill>
            <a:prstDash val="solid"/>
          </a:ln>
        </p:spPr>
      </p:sp>
      <p:sp>
        <p:nvSpPr>
          <p:cNvPr id="12" name="Text 10"/>
          <p:cNvSpPr/>
          <p:nvPr/>
        </p:nvSpPr>
        <p:spPr>
          <a:xfrm>
            <a:off x="502920" y="1673352"/>
            <a:ext cx="3749040" cy="228600"/>
          </a:xfrm>
          <a:prstGeom prst="rect">
            <a:avLst/>
          </a:prstGeom>
          <a:noFill/>
          <a:ln/>
        </p:spPr>
        <p:txBody>
          <a:bodyPr wrap="square" rtlCol="0" anchor="ctr"/>
          <a:lstStyle/>
          <a:p>
            <a:pPr indent="0" marL="0">
              <a:buNone/>
            </a:pPr>
            <a:r>
              <a:rPr lang="en-US" sz="950" b="1" dirty="0">
                <a:solidFill>
                  <a:srgbClr val="B8963E"/>
                </a:solidFill>
                <a:latin typeface="Menlo" pitchFamily="34" charset="0"/>
                <a:ea typeface="Menlo" pitchFamily="34" charset="-122"/>
                <a:cs typeface="Menlo" pitchFamily="34" charset="-120"/>
              </a:rPr>
              <a:t>ASP.NET CORE API</a:t>
            </a:r>
            <a:endParaRPr lang="en-US" sz="950" dirty="0"/>
          </a:p>
        </p:txBody>
      </p:sp>
      <p:sp>
        <p:nvSpPr>
          <p:cNvPr id="13" name="Text 11"/>
          <p:cNvSpPr/>
          <p:nvPr/>
        </p:nvSpPr>
        <p:spPr>
          <a:xfrm>
            <a:off x="502920" y="1874520"/>
            <a:ext cx="374904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Secure ingress routing and state validation controller.</a:t>
            </a:r>
            <a:endParaRPr lang="en-US" sz="850" dirty="0"/>
          </a:p>
        </p:txBody>
      </p:sp>
      <p:sp>
        <p:nvSpPr>
          <p:cNvPr id="14" name="Text 12"/>
          <p:cNvSpPr/>
          <p:nvPr/>
        </p:nvSpPr>
        <p:spPr>
          <a:xfrm>
            <a:off x="2194560" y="2148840"/>
            <a:ext cx="274320" cy="109728"/>
          </a:xfrm>
          <a:prstGeom prst="rect">
            <a:avLst/>
          </a:prstGeom>
          <a:noFill/>
          <a:ln/>
        </p:spPr>
        <p:txBody>
          <a:bodyPr wrap="square" rtlCol="0" anchor="ctr"/>
          <a:lstStyle/>
          <a:p>
            <a:pPr algn="ctr" indent="0" marL="0">
              <a:buNone/>
            </a:pPr>
            <a:r>
              <a:rPr lang="en-US" sz="800" dirty="0">
                <a:solidFill>
                  <a:srgbClr val="C8A84E"/>
                </a:solidFill>
              </a:rPr>
              <a:t>▼</a:t>
            </a:r>
            <a:endParaRPr lang="en-US" sz="800" dirty="0"/>
          </a:p>
        </p:txBody>
      </p:sp>
      <p:sp>
        <p:nvSpPr>
          <p:cNvPr id="15" name="Shape 13"/>
          <p:cNvSpPr/>
          <p:nvPr/>
        </p:nvSpPr>
        <p:spPr>
          <a:xfrm>
            <a:off x="365760" y="2240280"/>
            <a:ext cx="4023360" cy="502920"/>
          </a:xfrm>
          <a:prstGeom prst="rect">
            <a:avLst>
              <a:gd name="adj" fmla="val 10909"/>
            </a:avLst>
          </a:prstGeom>
          <a:solidFill>
            <a:srgbClr val="FFFFFF"/>
          </a:solidFill>
          <a:ln w="9525">
            <a:solidFill>
              <a:srgbClr val="E8E4DC"/>
            </a:solidFill>
            <a:prstDash val="solid"/>
          </a:ln>
        </p:spPr>
      </p:sp>
      <p:sp>
        <p:nvSpPr>
          <p:cNvPr id="16" name="Text 14"/>
          <p:cNvSpPr/>
          <p:nvPr/>
        </p:nvSpPr>
        <p:spPr>
          <a:xfrm>
            <a:off x="502920" y="2267712"/>
            <a:ext cx="3749040" cy="228600"/>
          </a:xfrm>
          <a:prstGeom prst="rect">
            <a:avLst/>
          </a:prstGeom>
          <a:noFill/>
          <a:ln/>
        </p:spPr>
        <p:txBody>
          <a:bodyPr wrap="square" rtlCol="0" anchor="ctr"/>
          <a:lstStyle/>
          <a:p>
            <a:pPr indent="0" marL="0">
              <a:buNone/>
            </a:pPr>
            <a:r>
              <a:rPr lang="en-US" sz="950" b="1" dirty="0">
                <a:solidFill>
                  <a:srgbClr val="B8963E"/>
                </a:solidFill>
                <a:latin typeface="Menlo" pitchFamily="34" charset="0"/>
                <a:ea typeface="Menlo" pitchFamily="34" charset="-122"/>
                <a:cs typeface="Menlo" pitchFamily="34" charset="-120"/>
              </a:rPr>
              <a:t>CONCIERGE ORCHESTRATOR</a:t>
            </a:r>
            <a:endParaRPr lang="en-US" sz="950" dirty="0"/>
          </a:p>
        </p:txBody>
      </p:sp>
      <p:sp>
        <p:nvSpPr>
          <p:cNvPr id="17" name="Text 15"/>
          <p:cNvSpPr/>
          <p:nvPr/>
        </p:nvSpPr>
        <p:spPr>
          <a:xfrm>
            <a:off x="502920" y="2468880"/>
            <a:ext cx="374904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Coordinates LLMs, Tool execution, &amp; SignalR alerts.</a:t>
            </a:r>
            <a:endParaRPr lang="en-US" sz="850" dirty="0"/>
          </a:p>
        </p:txBody>
      </p:sp>
      <p:sp>
        <p:nvSpPr>
          <p:cNvPr id="18" name="Shape 16"/>
          <p:cNvSpPr/>
          <p:nvPr/>
        </p:nvSpPr>
        <p:spPr>
          <a:xfrm>
            <a:off x="365760" y="2880360"/>
            <a:ext cx="4023360" cy="1097280"/>
          </a:xfrm>
          <a:prstGeom prst="rect">
            <a:avLst>
              <a:gd name="adj" fmla="val 5000"/>
            </a:avLst>
          </a:prstGeom>
          <a:solidFill>
            <a:srgbClr val="FFFFFF"/>
          </a:solidFill>
          <a:ln w="9525">
            <a:solidFill>
              <a:srgbClr val="E8E4DC"/>
            </a:solidFill>
            <a:prstDash val="solid"/>
          </a:ln>
        </p:spPr>
      </p:sp>
      <p:sp>
        <p:nvSpPr>
          <p:cNvPr id="19" name="Text 17"/>
          <p:cNvSpPr/>
          <p:nvPr/>
        </p:nvSpPr>
        <p:spPr>
          <a:xfrm>
            <a:off x="502920" y="2926080"/>
            <a:ext cx="3749040" cy="182880"/>
          </a:xfrm>
          <a:prstGeom prst="rect">
            <a:avLst/>
          </a:prstGeom>
          <a:noFill/>
          <a:ln/>
        </p:spPr>
        <p:txBody>
          <a:bodyPr wrap="square" rtlCol="0" anchor="ctr"/>
          <a:lstStyle/>
          <a:p>
            <a:pPr indent="0" marL="0">
              <a:buNone/>
            </a:pPr>
            <a:r>
              <a:rPr lang="en-US" sz="900" b="1" dirty="0">
                <a:solidFill>
                  <a:srgbClr val="B8963E"/>
                </a:solidFill>
                <a:latin typeface="Helvetica" pitchFamily="34" charset="0"/>
                <a:ea typeface="Helvetica" pitchFamily="34" charset="-122"/>
                <a:cs typeface="Helvetica" pitchFamily="34" charset="-120"/>
              </a:rPr>
              <a:t>SIDE-EFFECT TOOLS (3)</a:t>
            </a:r>
            <a:endParaRPr lang="en-US" sz="900" dirty="0"/>
          </a:p>
        </p:txBody>
      </p:sp>
      <p:sp>
        <p:nvSpPr>
          <p:cNvPr id="20" name="Text 18"/>
          <p:cNvSpPr/>
          <p:nvPr/>
        </p:nvSpPr>
        <p:spPr>
          <a:xfrm>
            <a:off x="502920" y="3108960"/>
            <a:ext cx="3749040" cy="228600"/>
          </a:xfrm>
          <a:prstGeom prst="rect">
            <a:avLst/>
          </a:prstGeom>
          <a:noFill/>
          <a:ln/>
        </p:spPr>
        <p:txBody>
          <a:bodyPr wrap="square" rtlCol="0" anchor="ctr"/>
          <a:lstStyle/>
          <a:p>
            <a:pPr indent="0" marL="0">
              <a:buNone/>
            </a:pPr>
            <a:r>
              <a:rPr lang="en-US" sz="850" dirty="0">
                <a:solidFill>
                  <a:srgbClr val="4A4A4A"/>
                </a:solidFill>
                <a:latin typeface="Menlo" pitchFamily="34" charset="0"/>
                <a:ea typeface="Menlo" pitchFamily="34" charset="-122"/>
                <a:cs typeface="Menlo" pitchFamily="34" charset="-120"/>
              </a:rPr>
              <a:t>create_food_order • create_housekeeping_request • create_maintenance_ticket</a:t>
            </a:r>
            <a:endParaRPr lang="en-US" sz="850" dirty="0"/>
          </a:p>
        </p:txBody>
      </p:sp>
      <p:sp>
        <p:nvSpPr>
          <p:cNvPr id="21" name="Text 19"/>
          <p:cNvSpPr/>
          <p:nvPr/>
        </p:nvSpPr>
        <p:spPr>
          <a:xfrm>
            <a:off x="502920" y="3383280"/>
            <a:ext cx="3749040" cy="182880"/>
          </a:xfrm>
          <a:prstGeom prst="rect">
            <a:avLst/>
          </a:prstGeom>
          <a:noFill/>
          <a:ln/>
        </p:spPr>
        <p:txBody>
          <a:bodyPr wrap="square" rtlCol="0" anchor="ctr"/>
          <a:lstStyle/>
          <a:p>
            <a:pPr indent="0" marL="0">
              <a:buNone/>
            </a:pPr>
            <a:r>
              <a:rPr lang="en-US" sz="900" b="1" dirty="0">
                <a:solidFill>
                  <a:srgbClr val="B8963E"/>
                </a:solidFill>
                <a:latin typeface="Helvetica" pitchFamily="34" charset="0"/>
                <a:ea typeface="Helvetica" pitchFamily="34" charset="-122"/>
                <a:cs typeface="Helvetica" pitchFamily="34" charset="-120"/>
              </a:rPr>
              <a:t>READ-ONLY QUERY TOOLS (5)</a:t>
            </a:r>
            <a:endParaRPr lang="en-US" sz="900" dirty="0"/>
          </a:p>
        </p:txBody>
      </p:sp>
      <p:sp>
        <p:nvSpPr>
          <p:cNvPr id="22" name="Text 20"/>
          <p:cNvSpPr/>
          <p:nvPr/>
        </p:nvSpPr>
        <p:spPr>
          <a:xfrm>
            <a:off x="502920" y="3566160"/>
            <a:ext cx="3749040" cy="320040"/>
          </a:xfrm>
          <a:prstGeom prst="rect">
            <a:avLst/>
          </a:prstGeom>
          <a:noFill/>
          <a:ln/>
        </p:spPr>
        <p:txBody>
          <a:bodyPr wrap="square" rtlCol="0" anchor="ctr"/>
          <a:lstStyle/>
          <a:p>
            <a:pPr indent="0" marL="0">
              <a:buNone/>
            </a:pPr>
            <a:r>
              <a:rPr lang="en-US" sz="850" dirty="0">
                <a:solidFill>
                  <a:srgbClr val="4A4A4A"/>
                </a:solidFill>
                <a:latin typeface="Menlo" pitchFamily="34" charset="0"/>
                <a:ea typeface="Menlo" pitchFamily="34" charset="-122"/>
                <a:cs typeface="Menlo" pitchFamily="34" charset="-120"/>
              </a:rPr>
              <a:t>get_booking_info • get_folio_balance • get_housekeeping_status • get_menu_items • get_active_orders</a:t>
            </a:r>
            <a:endParaRPr lang="en-US" sz="850" dirty="0"/>
          </a:p>
        </p:txBody>
      </p:sp>
      <p:sp>
        <p:nvSpPr>
          <p:cNvPr id="23" name="Shape 21"/>
          <p:cNvSpPr/>
          <p:nvPr/>
        </p:nvSpPr>
        <p:spPr>
          <a:xfrm>
            <a:off x="4754880" y="1051560"/>
            <a:ext cx="4114800" cy="1828800"/>
          </a:xfrm>
          <a:prstGeom prst="rect">
            <a:avLst>
              <a:gd name="adj" fmla="val 4000"/>
            </a:avLst>
          </a:prstGeom>
          <a:solidFill>
            <a:srgbClr val="FFF8E8"/>
          </a:solidFill>
          <a:ln w="19050">
            <a:solidFill>
              <a:srgbClr val="C8A84E"/>
            </a:solidFill>
            <a:prstDash val="solid"/>
          </a:ln>
        </p:spPr>
      </p:sp>
      <p:sp>
        <p:nvSpPr>
          <p:cNvPr id="24" name="Text 22"/>
          <p:cNvSpPr/>
          <p:nvPr/>
        </p:nvSpPr>
        <p:spPr>
          <a:xfrm>
            <a:off x="4892040" y="1143000"/>
            <a:ext cx="3840480" cy="274320"/>
          </a:xfrm>
          <a:prstGeom prst="rect">
            <a:avLst/>
          </a:prstGeom>
          <a:noFill/>
          <a:ln/>
        </p:spPr>
        <p:txBody>
          <a:bodyPr wrap="square" rtlCol="0" anchor="ctr"/>
          <a:lstStyle/>
          <a:p>
            <a:pPr algn="ctr" indent="0" marL="0">
              <a:buNone/>
            </a:pPr>
            <a:r>
              <a:rPr lang="en-US" sz="1400" b="1" dirty="0">
                <a:solidFill>
                  <a:srgbClr val="B8963E"/>
                </a:solidFill>
                <a:latin typeface="Helvetica" pitchFamily="34" charset="0"/>
                <a:ea typeface="Helvetica" pitchFamily="34" charset="-122"/>
                <a:cs typeface="Helvetica" pitchFamily="34" charset="-120"/>
              </a:rPr>
              <a:t>ZERO NEW BUSINESS LOGIC</a:t>
            </a:r>
            <a:endParaRPr lang="en-US" sz="1400" dirty="0"/>
          </a:p>
        </p:txBody>
      </p:sp>
      <p:sp>
        <p:nvSpPr>
          <p:cNvPr id="25" name="Text 23"/>
          <p:cNvSpPr/>
          <p:nvPr/>
        </p:nvSpPr>
        <p:spPr>
          <a:xfrm>
            <a:off x="4892040" y="1417320"/>
            <a:ext cx="3840480" cy="228600"/>
          </a:xfrm>
          <a:prstGeom prst="rect">
            <a:avLst/>
          </a:prstGeom>
          <a:noFill/>
          <a:ln/>
        </p:spPr>
        <p:txBody>
          <a:bodyPr wrap="square" rtlCol="0" anchor="ctr"/>
          <a:lstStyle/>
          <a:p>
            <a:pPr algn="ctr" indent="0" marL="0">
              <a:buNone/>
            </a:pPr>
            <a:r>
              <a:rPr lang="en-US" sz="1100" dirty="0">
                <a:solidFill>
                  <a:srgbClr val="B8963E"/>
                </a:solidFill>
                <a:latin typeface="Helvetica" pitchFamily="34" charset="0"/>
                <a:ea typeface="Helvetica" pitchFamily="34" charset="-122"/>
                <a:cs typeface="Helvetica" pitchFamily="34" charset="-120"/>
              </a:rPr>
              <a:t>Reusing Hardened Systems</a:t>
            </a:r>
            <a:endParaRPr lang="en-US" sz="1100" dirty="0"/>
          </a:p>
        </p:txBody>
      </p:sp>
      <p:sp>
        <p:nvSpPr>
          <p:cNvPr id="26" name="Text 24"/>
          <p:cNvSpPr/>
          <p:nvPr/>
        </p:nvSpPr>
        <p:spPr>
          <a:xfrm>
            <a:off x="4892040" y="1737360"/>
            <a:ext cx="3840480" cy="1005840"/>
          </a:xfrm>
          <a:prstGeom prst="rect">
            <a:avLst/>
          </a:prstGeom>
          <a:noFill/>
          <a:ln/>
        </p:spPr>
        <p:txBody>
          <a:bodyPr wrap="square" rtlCol="0" anchor="ctr"/>
          <a:lstStyle/>
          <a:p>
            <a:pPr indent="0" marL="0">
              <a:lnSpc>
                <a:spcPct val="100000"/>
              </a:lnSpc>
              <a:buNone/>
            </a:pPr>
            <a:r>
              <a:rPr lang="en-US" sz="950" dirty="0">
                <a:solidFill>
                  <a:srgbClr val="4A4A4A"/>
                </a:solidFill>
                <a:latin typeface="Helvetica" pitchFamily="34" charset="0"/>
                <a:ea typeface="Helvetica" pitchFamily="34" charset="-122"/>
                <a:cs typeface="Helvetica" pitchFamily="34" charset="-120"/>
              </a:rPr>
              <a:t>The AI concierge layer is completely stateless. It acts as an orchestrator, securely forwarding structured execution to existing core subsystems:</a:t>
            </a:r>
            <a:endParaRPr lang="en-US" sz="950" dirty="0"/>
          </a:p>
          <a:p>
            <a:pPr indent="0" marL="0">
              <a:lnSpc>
                <a:spcPct val="100000"/>
              </a:lnSpc>
              <a:buNone/>
            </a:pPr>
            <a:endParaRPr lang="en-US" sz="950" dirty="0"/>
          </a:p>
          <a:p>
            <a:pPr indent="0" marL="0">
              <a:lnSpc>
                <a:spcPct val="100000"/>
              </a:lnSpc>
              <a:buNone/>
            </a:pPr>
            <a:r>
              <a:rPr lang="en-US" sz="950" dirty="0">
                <a:solidFill>
                  <a:srgbClr val="4A4A4A"/>
                </a:solidFill>
                <a:latin typeface="Helvetica" pitchFamily="34" charset="0"/>
                <a:ea typeface="Helvetica" pitchFamily="34" charset="-122"/>
                <a:cs typeface="Helvetica" pitchFamily="34" charset="-120"/>
              </a:rPr>
              <a:t>• OrderService</a:t>
            </a:r>
            <a:endParaRPr lang="en-US" sz="950" dirty="0"/>
          </a:p>
          <a:p>
            <a:pPr indent="0" marL="0">
              <a:lnSpc>
                <a:spcPct val="100000"/>
              </a:lnSpc>
              <a:buNone/>
            </a:pPr>
            <a:r>
              <a:rPr lang="en-US" sz="950" dirty="0">
                <a:solidFill>
                  <a:srgbClr val="4A4A4A"/>
                </a:solidFill>
                <a:latin typeface="Helvetica" pitchFamily="34" charset="0"/>
                <a:ea typeface="Helvetica" pitchFamily="34" charset="-122"/>
                <a:cs typeface="Helvetica" pitchFamily="34" charset="-120"/>
              </a:rPr>
              <a:t>• HousekeepingService</a:t>
            </a:r>
            <a:endParaRPr lang="en-US" sz="950" dirty="0"/>
          </a:p>
          <a:p>
            <a:pPr indent="0" marL="0">
              <a:lnSpc>
                <a:spcPct val="100000"/>
              </a:lnSpc>
              <a:buNone/>
            </a:pPr>
            <a:r>
              <a:rPr lang="en-US" sz="950" dirty="0">
                <a:solidFill>
                  <a:srgbClr val="4A4A4A"/>
                </a:solidFill>
                <a:latin typeface="Helvetica" pitchFamily="34" charset="0"/>
                <a:ea typeface="Helvetica" pitchFamily="34" charset="-122"/>
                <a:cs typeface="Helvetica" pitchFamily="34" charset="-120"/>
              </a:rPr>
              <a:t>• MaintenanceService</a:t>
            </a:r>
            <a:endParaRPr lang="en-US" sz="950" dirty="0"/>
          </a:p>
        </p:txBody>
      </p:sp>
      <p:sp>
        <p:nvSpPr>
          <p:cNvPr id="27" name="Shape 25"/>
          <p:cNvSpPr/>
          <p:nvPr/>
        </p:nvSpPr>
        <p:spPr>
          <a:xfrm>
            <a:off x="4754880" y="3063240"/>
            <a:ext cx="4114800" cy="914400"/>
          </a:xfrm>
          <a:prstGeom prst="rect">
            <a:avLst>
              <a:gd name="adj" fmla="val 6000"/>
            </a:avLst>
          </a:prstGeom>
          <a:solidFill>
            <a:srgbClr val="FFF5F5"/>
          </a:solidFill>
          <a:ln w="9525">
            <a:solidFill>
              <a:srgbClr val="C0392B"/>
            </a:solidFill>
            <a:prstDash val="solid"/>
          </a:ln>
        </p:spPr>
      </p:sp>
      <p:sp>
        <p:nvSpPr>
          <p:cNvPr id="28" name="Text 26"/>
          <p:cNvSpPr/>
          <p:nvPr/>
        </p:nvSpPr>
        <p:spPr>
          <a:xfrm>
            <a:off x="4892040" y="3108960"/>
            <a:ext cx="3840480" cy="182880"/>
          </a:xfrm>
          <a:prstGeom prst="rect">
            <a:avLst/>
          </a:prstGeom>
          <a:noFill/>
          <a:ln/>
        </p:spPr>
        <p:txBody>
          <a:bodyPr wrap="square" rtlCol="0" anchor="ctr"/>
          <a:lstStyle/>
          <a:p>
            <a:pPr indent="0" marL="0">
              <a:buNone/>
            </a:pPr>
            <a:r>
              <a:rPr lang="en-US" sz="1000" b="1" dirty="0">
                <a:solidFill>
                  <a:srgbClr val="C0392B"/>
                </a:solidFill>
                <a:latin typeface="Helvetica" pitchFamily="34" charset="0"/>
                <a:ea typeface="Helvetica" pitchFamily="34" charset="-122"/>
                <a:cs typeface="Helvetica" pitchFamily="34" charset="-120"/>
              </a:rPr>
              <a:t>Strong Against Manipulation</a:t>
            </a:r>
            <a:endParaRPr lang="en-US" sz="1000" dirty="0"/>
          </a:p>
        </p:txBody>
      </p:sp>
      <p:sp>
        <p:nvSpPr>
          <p:cNvPr id="29" name="Text 27"/>
          <p:cNvSpPr/>
          <p:nvPr/>
        </p:nvSpPr>
        <p:spPr>
          <a:xfrm>
            <a:off x="4892040" y="3337560"/>
            <a:ext cx="3840480" cy="50292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Every guest input goes through a sanitization layer that safeguards the LLM model, our system, and our data from malicious intent.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The Proposal Pattern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AI That Acts, But Doesn't Assume</a:t>
            </a:r>
            <a:endParaRPr lang="en-US" sz="1200" dirty="0"/>
          </a:p>
        </p:txBody>
      </p:sp>
      <p:sp>
        <p:nvSpPr>
          <p:cNvPr id="7" name="Shape 5"/>
          <p:cNvSpPr/>
          <p:nvPr/>
        </p:nvSpPr>
        <p:spPr>
          <a:xfrm>
            <a:off x="365760" y="1005840"/>
            <a:ext cx="8412480" cy="502920"/>
          </a:xfrm>
          <a:prstGeom prst="rect">
            <a:avLst>
              <a:gd name="adj" fmla="val 10909"/>
            </a:avLst>
          </a:prstGeom>
          <a:solidFill>
            <a:srgbClr val="FFF5F5"/>
          </a:solidFill>
          <a:ln w="9525">
            <a:solidFill>
              <a:srgbClr val="C0392B"/>
            </a:solidFill>
            <a:prstDash val="solid"/>
          </a:ln>
        </p:spPr>
      </p:sp>
      <p:sp>
        <p:nvSpPr>
          <p:cNvPr id="8" name="Text 6"/>
          <p:cNvSpPr/>
          <p:nvPr/>
        </p:nvSpPr>
        <p:spPr>
          <a:xfrm>
            <a:off x="502920" y="1024128"/>
            <a:ext cx="8138160" cy="201168"/>
          </a:xfrm>
          <a:prstGeom prst="rect">
            <a:avLst/>
          </a:prstGeom>
          <a:noFill/>
          <a:ln/>
        </p:spPr>
        <p:txBody>
          <a:bodyPr wrap="square" rtlCol="0" anchor="ctr"/>
          <a:lstStyle/>
          <a:p>
            <a:pPr indent="0" marL="0">
              <a:buNone/>
            </a:pPr>
            <a:r>
              <a:rPr lang="en-US" sz="1000" b="1" dirty="0">
                <a:solidFill>
                  <a:srgbClr val="C0392B"/>
                </a:solidFill>
                <a:latin typeface="Helvetica" pitchFamily="34" charset="0"/>
                <a:ea typeface="Helvetica" pitchFamily="34" charset="-122"/>
                <a:cs typeface="Helvetica" pitchFamily="34" charset="-120"/>
              </a:rPr>
              <a:t>THE PROBLEM</a:t>
            </a:r>
            <a:endParaRPr lang="en-US" sz="1000" dirty="0"/>
          </a:p>
        </p:txBody>
      </p:sp>
      <p:sp>
        <p:nvSpPr>
          <p:cNvPr id="9" name="Text 7"/>
          <p:cNvSpPr/>
          <p:nvPr/>
        </p:nvSpPr>
        <p:spPr>
          <a:xfrm>
            <a:off x="502920" y="1234440"/>
            <a:ext cx="8138160" cy="201168"/>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LLMs hallucinate. They execute tools confidently but incorrectly. Unchecked, automated backend actions destroy systems and trust.</a:t>
            </a:r>
            <a:endParaRPr lang="en-US" sz="900" dirty="0"/>
          </a:p>
        </p:txBody>
      </p:sp>
      <p:sp>
        <p:nvSpPr>
          <p:cNvPr id="10" name="Shape 8"/>
          <p:cNvSpPr/>
          <p:nvPr/>
        </p:nvSpPr>
        <p:spPr>
          <a:xfrm>
            <a:off x="365760" y="1691640"/>
            <a:ext cx="4023360" cy="1371600"/>
          </a:xfrm>
          <a:prstGeom prst="rect">
            <a:avLst>
              <a:gd name="adj" fmla="val 5333"/>
            </a:avLst>
          </a:prstGeom>
          <a:solidFill>
            <a:srgbClr val="FFFFFF"/>
          </a:solidFill>
          <a:ln w="9525">
            <a:solidFill>
              <a:srgbClr val="E8E4DC"/>
            </a:solidFill>
            <a:prstDash val="solid"/>
          </a:ln>
        </p:spPr>
      </p:sp>
      <p:sp>
        <p:nvSpPr>
          <p:cNvPr id="11" name="Shape 9"/>
          <p:cNvSpPr/>
          <p:nvPr/>
        </p:nvSpPr>
        <p:spPr>
          <a:xfrm>
            <a:off x="365760" y="1691640"/>
            <a:ext cx="54864" cy="1371600"/>
          </a:xfrm>
          <a:prstGeom prst="rect">
            <a:avLst/>
          </a:prstGeom>
          <a:solidFill>
            <a:srgbClr val="C8A84E"/>
          </a:solidFill>
          <a:ln/>
        </p:spPr>
      </p:sp>
      <p:sp>
        <p:nvSpPr>
          <p:cNvPr id="12" name="Text 10"/>
          <p:cNvSpPr/>
          <p:nvPr/>
        </p:nvSpPr>
        <p:spPr>
          <a:xfrm>
            <a:off x="548640" y="1737360"/>
            <a:ext cx="365760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STEP 1: PROPOSAL GENERATION</a:t>
            </a:r>
            <a:endParaRPr lang="en-US" sz="1000" dirty="0"/>
          </a:p>
        </p:txBody>
      </p:sp>
      <p:sp>
        <p:nvSpPr>
          <p:cNvPr id="13" name="Text 11"/>
          <p:cNvSpPr/>
          <p:nvPr/>
        </p:nvSpPr>
        <p:spPr>
          <a:xfrm>
            <a:off x="548640" y="1965960"/>
            <a:ext cx="3657600" cy="182880"/>
          </a:xfrm>
          <a:prstGeom prst="rect">
            <a:avLst/>
          </a:prstGeom>
          <a:noFill/>
          <a:ln/>
        </p:spPr>
        <p:txBody>
          <a:bodyPr wrap="square" rtlCol="0" anchor="ctr"/>
          <a:lstStyle/>
          <a:p>
            <a:pPr indent="0" marL="0">
              <a:buNone/>
            </a:pPr>
            <a:r>
              <a:rPr lang="en-US" sz="900" i="1" dirty="0">
                <a:solidFill>
                  <a:srgbClr val="4A4A4A"/>
                </a:solidFill>
                <a:latin typeface="Helvetica" pitchFamily="34" charset="0"/>
                <a:ea typeface="Helvetica" pitchFamily="34" charset="-122"/>
                <a:cs typeface="Helvetica" pitchFamily="34" charset="-120"/>
              </a:rPr>
              <a:t>Guest Request to Pending Proposal</a:t>
            </a:r>
            <a:endParaRPr lang="en-US" sz="900" dirty="0"/>
          </a:p>
        </p:txBody>
      </p:sp>
      <p:sp>
        <p:nvSpPr>
          <p:cNvPr id="14" name="Text 12"/>
          <p:cNvSpPr/>
          <p:nvPr/>
        </p:nvSpPr>
        <p:spPr>
          <a:xfrm>
            <a:off x="548640" y="2194560"/>
            <a:ext cx="3657600" cy="7315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The guest request prompts the LLM to create explicit, visible proposals with a strict 5-minute TTL. No backend mutations occur at this stage.</a:t>
            </a:r>
            <a:endParaRPr lang="en-US" sz="900" dirty="0"/>
          </a:p>
        </p:txBody>
      </p:sp>
      <p:sp>
        <p:nvSpPr>
          <p:cNvPr id="15" name="Shape 13"/>
          <p:cNvSpPr/>
          <p:nvPr/>
        </p:nvSpPr>
        <p:spPr>
          <a:xfrm>
            <a:off x="4754880" y="1691640"/>
            <a:ext cx="4023360" cy="1371600"/>
          </a:xfrm>
          <a:prstGeom prst="rect">
            <a:avLst>
              <a:gd name="adj" fmla="val 5333"/>
            </a:avLst>
          </a:prstGeom>
          <a:solidFill>
            <a:srgbClr val="FFFFFF"/>
          </a:solidFill>
          <a:ln w="9525">
            <a:solidFill>
              <a:srgbClr val="E8E4DC"/>
            </a:solidFill>
            <a:prstDash val="solid"/>
          </a:ln>
        </p:spPr>
      </p:sp>
      <p:sp>
        <p:nvSpPr>
          <p:cNvPr id="16" name="Shape 14"/>
          <p:cNvSpPr/>
          <p:nvPr/>
        </p:nvSpPr>
        <p:spPr>
          <a:xfrm>
            <a:off x="4754880" y="1691640"/>
            <a:ext cx="54864" cy="1371600"/>
          </a:xfrm>
          <a:prstGeom prst="rect">
            <a:avLst/>
          </a:prstGeom>
          <a:solidFill>
            <a:srgbClr val="2D7D46"/>
          </a:solidFill>
          <a:ln/>
        </p:spPr>
      </p:sp>
      <p:sp>
        <p:nvSpPr>
          <p:cNvPr id="17" name="Text 15"/>
          <p:cNvSpPr/>
          <p:nvPr/>
        </p:nvSpPr>
        <p:spPr>
          <a:xfrm>
            <a:off x="4937760" y="1737360"/>
            <a:ext cx="3657600" cy="228600"/>
          </a:xfrm>
          <a:prstGeom prst="rect">
            <a:avLst/>
          </a:prstGeom>
          <a:noFill/>
          <a:ln/>
        </p:spPr>
        <p:txBody>
          <a:bodyPr wrap="square" rtlCol="0" anchor="ctr"/>
          <a:lstStyle/>
          <a:p>
            <a:pPr indent="0" marL="0">
              <a:buNone/>
            </a:pPr>
            <a:r>
              <a:rPr lang="en-US" sz="1000" b="1" dirty="0">
                <a:solidFill>
                  <a:srgbClr val="2D7D46"/>
                </a:solidFill>
                <a:latin typeface="Helvetica" pitchFamily="34" charset="0"/>
                <a:ea typeface="Helvetica" pitchFamily="34" charset="-122"/>
                <a:cs typeface="Helvetica" pitchFamily="34" charset="-120"/>
              </a:rPr>
              <a:t>STEP 2: CONFIRMATION &amp; EXECUTION</a:t>
            </a:r>
            <a:endParaRPr lang="en-US" sz="1000" dirty="0"/>
          </a:p>
        </p:txBody>
      </p:sp>
      <p:sp>
        <p:nvSpPr>
          <p:cNvPr id="18" name="Text 16"/>
          <p:cNvSpPr/>
          <p:nvPr/>
        </p:nvSpPr>
        <p:spPr>
          <a:xfrm>
            <a:off x="4937760" y="1965960"/>
            <a:ext cx="3657600" cy="182880"/>
          </a:xfrm>
          <a:prstGeom prst="rect">
            <a:avLst/>
          </a:prstGeom>
          <a:noFill/>
          <a:ln/>
        </p:spPr>
        <p:txBody>
          <a:bodyPr wrap="square" rtlCol="0" anchor="ctr"/>
          <a:lstStyle/>
          <a:p>
            <a:pPr indent="0" marL="0">
              <a:buNone/>
            </a:pPr>
            <a:r>
              <a:rPr lang="en-US" sz="900" i="1" dirty="0">
                <a:solidFill>
                  <a:srgbClr val="4A4A4A"/>
                </a:solidFill>
                <a:latin typeface="Helvetica" pitchFamily="34" charset="0"/>
                <a:ea typeface="Helvetica" pitchFamily="34" charset="-122"/>
                <a:cs typeface="Helvetica" pitchFamily="34" charset="-120"/>
              </a:rPr>
              <a:t>Explicit Authorization</a:t>
            </a:r>
            <a:endParaRPr lang="en-US" sz="900" dirty="0"/>
          </a:p>
        </p:txBody>
      </p:sp>
      <p:sp>
        <p:nvSpPr>
          <p:cNvPr id="19" name="Text 17"/>
          <p:cNvSpPr/>
          <p:nvPr/>
        </p:nvSpPr>
        <p:spPr>
          <a:xfrm>
            <a:off x="4937760" y="2194560"/>
            <a:ext cx="3657600" cy="7315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The guest must confirm before execution. Real-time SignalR alerts instantly trigger to synchronize guest interface state across active devices.</a:t>
            </a:r>
            <a:endParaRPr lang="en-US" sz="900" dirty="0"/>
          </a:p>
        </p:txBody>
      </p:sp>
      <p:sp>
        <p:nvSpPr>
          <p:cNvPr id="20" name="Text 18"/>
          <p:cNvSpPr/>
          <p:nvPr/>
        </p:nvSpPr>
        <p:spPr>
          <a:xfrm>
            <a:off x="365760" y="3246120"/>
            <a:ext cx="365760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SECURITY DEFENSE LAYERS</a:t>
            </a:r>
            <a:endParaRPr lang="en-US" sz="1000" dirty="0"/>
          </a:p>
        </p:txBody>
      </p:sp>
      <p:sp>
        <p:nvSpPr>
          <p:cNvPr id="21" name="Text 19"/>
          <p:cNvSpPr/>
          <p:nvPr/>
        </p:nvSpPr>
        <p:spPr>
          <a:xfrm>
            <a:off x="365760" y="352044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5-Minute TTL: Auto-expires stale proposals safely</a:t>
            </a:r>
            <a:endParaRPr lang="en-US" sz="850" dirty="0"/>
          </a:p>
        </p:txBody>
      </p:sp>
      <p:sp>
        <p:nvSpPr>
          <p:cNvPr id="22" name="Text 20"/>
          <p:cNvSpPr/>
          <p:nvPr/>
        </p:nvSpPr>
        <p:spPr>
          <a:xfrm>
            <a:off x="365760" y="379476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Prompt Injection Sanitizer: Intercepts and neutralizes attacks</a:t>
            </a:r>
            <a:endParaRPr lang="en-US" sz="850" dirty="0"/>
          </a:p>
        </p:txBody>
      </p:sp>
      <p:sp>
        <p:nvSpPr>
          <p:cNvPr id="23" name="Text 21"/>
          <p:cNvSpPr/>
          <p:nvPr/>
        </p:nvSpPr>
        <p:spPr>
          <a:xfrm>
            <a:off x="365760" y="406908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Guest Context Scoping: Strictly confines tools to current session</a:t>
            </a:r>
            <a:endParaRPr lang="en-US" sz="850" dirty="0"/>
          </a:p>
        </p:txBody>
      </p:sp>
      <p:sp>
        <p:nvSpPr>
          <p:cNvPr id="24" name="Text 22"/>
          <p:cNvSpPr/>
          <p:nvPr/>
        </p:nvSpPr>
        <p:spPr>
          <a:xfrm>
            <a:off x="4754880" y="352044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Max 5 Tool Calls: Limits loop and recursion depth per turn</a:t>
            </a:r>
            <a:endParaRPr lang="en-US" sz="850" dirty="0"/>
          </a:p>
        </p:txBody>
      </p:sp>
      <p:sp>
        <p:nvSpPr>
          <p:cNvPr id="25" name="Text 23"/>
          <p:cNvSpPr/>
          <p:nvPr/>
        </p:nvSpPr>
        <p:spPr>
          <a:xfrm>
            <a:off x="4754880" y="379476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Per-Turn Idempotency: Blocks duplicate execution payloads</a:t>
            </a:r>
            <a:endParaRPr lang="en-US" sz="850" dirty="0"/>
          </a:p>
        </p:txBody>
      </p:sp>
      <p:sp>
        <p:nvSpPr>
          <p:cNvPr id="26" name="Text 24"/>
          <p:cNvSpPr/>
          <p:nvPr/>
        </p:nvSpPr>
        <p:spPr>
          <a:xfrm>
            <a:off x="4754880" y="4069080"/>
            <a:ext cx="4023360" cy="228600"/>
          </a:xfrm>
          <a:prstGeom prst="rect">
            <a:avLst/>
          </a:prstGeom>
          <a:noFill/>
          <a:ln/>
        </p:spPr>
        <p:txBody>
          <a:bodyPr wrap="square" rtlCol="0" anchor="ctr"/>
          <a:lstStyle/>
          <a:p>
            <a:pPr indent="0" marL="0">
              <a:buNone/>
            </a:pPr>
            <a:r>
              <a:rPr lang="en-US" sz="850" dirty="0">
                <a:solidFill>
                  <a:srgbClr val="4A4A4A"/>
                </a:solidFill>
                <a:latin typeface="Helvetica" pitchFamily="34" charset="0"/>
                <a:ea typeface="Helvetica" pitchFamily="34" charset="-122"/>
                <a:cs typeface="Helvetica" pitchFamily="34" charset="-120"/>
              </a:rPr>
              <a:t>▸ Full Audit Trail: Registers every generation and action state</a:t>
            </a:r>
            <a:endParaRPr lang="en-US" sz="850" dirty="0"/>
          </a:p>
        </p:txBody>
      </p:sp>
      <p:sp>
        <p:nvSpPr>
          <p:cNvPr id="27" name="Shape 25"/>
          <p:cNvSpPr/>
          <p:nvPr/>
        </p:nvSpPr>
        <p:spPr>
          <a:xfrm>
            <a:off x="365760" y="4389120"/>
            <a:ext cx="8412480" cy="320040"/>
          </a:xfrm>
          <a:prstGeom prst="rect">
            <a:avLst>
              <a:gd name="adj" fmla="val 17143"/>
            </a:avLst>
          </a:prstGeom>
          <a:solidFill>
            <a:srgbClr val="FFF8E8"/>
          </a:solidFill>
          <a:ln w="9525">
            <a:solidFill>
              <a:srgbClr val="C8A84E"/>
            </a:solidFill>
            <a:prstDash val="solid"/>
          </a:ln>
        </p:spPr>
      </p:sp>
      <p:sp>
        <p:nvSpPr>
          <p:cNvPr id="28" name="Text 26"/>
          <p:cNvSpPr/>
          <p:nvPr/>
        </p:nvSpPr>
        <p:spPr>
          <a:xfrm>
            <a:off x="502920" y="4407408"/>
            <a:ext cx="8138160" cy="274320"/>
          </a:xfrm>
          <a:prstGeom prst="rect">
            <a:avLst/>
          </a:prstGeom>
          <a:noFill/>
          <a:ln/>
        </p:spPr>
        <p:txBody>
          <a:bodyPr wrap="square" rtlCol="0" anchor="ctr"/>
          <a:lstStyle/>
          <a:p>
            <a:pPr algn="ctr" indent="0" marL="0">
              <a:buNone/>
            </a:pPr>
            <a:r>
              <a:rPr lang="en-US" sz="900" i="1" dirty="0">
                <a:solidFill>
                  <a:srgbClr val="B8963E"/>
                </a:solidFill>
                <a:latin typeface="Georgia" pitchFamily="34" charset="0"/>
                <a:ea typeface="Georgia" pitchFamily="34" charset="-122"/>
                <a:cs typeface="Georgia" pitchFamily="34" charset="-120"/>
              </a:rPr>
              <a:t>"Read-only tools execute immediately. Side-effect tools require explicit guest confirmation. The guest always stays in control."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Strong Against Manipulation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AI That Acts, But Doesn't Assume</a:t>
            </a:r>
            <a:endParaRPr lang="en-US" sz="1200" dirty="0"/>
          </a:p>
        </p:txBody>
      </p:sp>
      <p:sp>
        <p:nvSpPr>
          <p:cNvPr id="7" name="Shape 5"/>
          <p:cNvSpPr/>
          <p:nvPr/>
        </p:nvSpPr>
        <p:spPr>
          <a:xfrm>
            <a:off x="365760" y="1051560"/>
            <a:ext cx="4023360" cy="1463040"/>
          </a:xfrm>
          <a:prstGeom prst="rect">
            <a:avLst>
              <a:gd name="adj" fmla="val 5000"/>
            </a:avLst>
          </a:prstGeom>
          <a:solidFill>
            <a:srgbClr val="FFF5F5"/>
          </a:solidFill>
          <a:ln w="9525">
            <a:solidFill>
              <a:srgbClr val="C0392B"/>
            </a:solidFill>
            <a:prstDash val="solid"/>
          </a:ln>
        </p:spPr>
      </p:sp>
      <p:sp>
        <p:nvSpPr>
          <p:cNvPr id="8" name="Text 6"/>
          <p:cNvSpPr/>
          <p:nvPr/>
        </p:nvSpPr>
        <p:spPr>
          <a:xfrm>
            <a:off x="502920" y="1097280"/>
            <a:ext cx="3749040" cy="228600"/>
          </a:xfrm>
          <a:prstGeom prst="rect">
            <a:avLst/>
          </a:prstGeom>
          <a:noFill/>
          <a:ln/>
        </p:spPr>
        <p:txBody>
          <a:bodyPr wrap="square" rtlCol="0" anchor="ctr"/>
          <a:lstStyle/>
          <a:p>
            <a:pPr indent="0" marL="0">
              <a:buNone/>
            </a:pPr>
            <a:r>
              <a:rPr lang="en-US" sz="1200" b="1" dirty="0">
                <a:solidFill>
                  <a:srgbClr val="C0392B"/>
                </a:solidFill>
                <a:latin typeface="Helvetica" pitchFamily="34" charset="0"/>
                <a:ea typeface="Helvetica" pitchFamily="34" charset="-122"/>
                <a:cs typeface="Helvetica" pitchFamily="34" charset="-120"/>
              </a:rPr>
              <a:t>THE PROBLEM</a:t>
            </a:r>
            <a:endParaRPr lang="en-US" sz="1200" dirty="0"/>
          </a:p>
        </p:txBody>
      </p:sp>
      <p:sp>
        <p:nvSpPr>
          <p:cNvPr id="9" name="Text 7"/>
          <p:cNvSpPr/>
          <p:nvPr/>
        </p:nvSpPr>
        <p:spPr>
          <a:xfrm>
            <a:off x="502920" y="1371600"/>
            <a:ext cx="3749040" cy="91440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Regular Chatbots can be easily Manipulated to give out sensitive user data or perform actions that are beyond its scope.</a:t>
            </a:r>
            <a:endParaRPr lang="en-US" sz="1000" dirty="0"/>
          </a:p>
        </p:txBody>
      </p:sp>
      <p:sp>
        <p:nvSpPr>
          <p:cNvPr id="10" name="Shape 8"/>
          <p:cNvSpPr/>
          <p:nvPr/>
        </p:nvSpPr>
        <p:spPr>
          <a:xfrm>
            <a:off x="4754880" y="1051560"/>
            <a:ext cx="4023360" cy="1463040"/>
          </a:xfrm>
          <a:prstGeom prst="rect">
            <a:avLst>
              <a:gd name="adj" fmla="val 5000"/>
            </a:avLst>
          </a:prstGeom>
          <a:solidFill>
            <a:srgbClr val="F0F8F0"/>
          </a:solidFill>
          <a:ln w="9525">
            <a:solidFill>
              <a:srgbClr val="2D7D46"/>
            </a:solidFill>
            <a:prstDash val="solid"/>
          </a:ln>
        </p:spPr>
      </p:sp>
      <p:sp>
        <p:nvSpPr>
          <p:cNvPr id="11" name="Text 9"/>
          <p:cNvSpPr/>
          <p:nvPr/>
        </p:nvSpPr>
        <p:spPr>
          <a:xfrm>
            <a:off x="4892040" y="1097280"/>
            <a:ext cx="3749040" cy="228600"/>
          </a:xfrm>
          <a:prstGeom prst="rect">
            <a:avLst/>
          </a:prstGeom>
          <a:noFill/>
          <a:ln/>
        </p:spPr>
        <p:txBody>
          <a:bodyPr wrap="square" rtlCol="0" anchor="ctr"/>
          <a:lstStyle/>
          <a:p>
            <a:pPr indent="0" marL="0">
              <a:buNone/>
            </a:pPr>
            <a:r>
              <a:rPr lang="en-US" sz="1200" b="1" dirty="0">
                <a:solidFill>
                  <a:srgbClr val="2D7D46"/>
                </a:solidFill>
                <a:latin typeface="Helvetica" pitchFamily="34" charset="0"/>
                <a:ea typeface="Helvetica" pitchFamily="34" charset="-122"/>
                <a:cs typeface="Helvetica" pitchFamily="34" charset="-120"/>
              </a:rPr>
              <a:t>Solution</a:t>
            </a:r>
            <a:endParaRPr lang="en-US" sz="1200" dirty="0"/>
          </a:p>
        </p:txBody>
      </p:sp>
      <p:sp>
        <p:nvSpPr>
          <p:cNvPr id="12" name="Text 10"/>
          <p:cNvSpPr/>
          <p:nvPr/>
        </p:nvSpPr>
        <p:spPr>
          <a:xfrm>
            <a:off x="4892040" y="1371600"/>
            <a:ext cx="374904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Strong Input Sanitization</a:t>
            </a:r>
            <a:endParaRPr lang="en-US" sz="1100" dirty="0"/>
          </a:p>
        </p:txBody>
      </p:sp>
      <p:sp>
        <p:nvSpPr>
          <p:cNvPr id="13" name="Text 11"/>
          <p:cNvSpPr/>
          <p:nvPr/>
        </p:nvSpPr>
        <p:spPr>
          <a:xfrm>
            <a:off x="4892040" y="1645920"/>
            <a:ext cx="3749040" cy="640080"/>
          </a:xfrm>
          <a:prstGeom prst="rect">
            <a:avLst/>
          </a:prstGeom>
          <a:noFill/>
          <a:ln/>
        </p:spPr>
        <p:txBody>
          <a:bodyPr wrap="square" rtlCol="0" anchor="ctr"/>
          <a:lstStyle/>
          <a:p>
            <a:pPr indent="0" marL="0">
              <a:buNone/>
            </a:pPr>
            <a:r>
              <a:rPr lang="en-US" sz="1000" dirty="0">
                <a:solidFill>
                  <a:srgbClr val="4A4A4A"/>
                </a:solidFill>
                <a:latin typeface="Helvetica" pitchFamily="34" charset="0"/>
                <a:ea typeface="Helvetica" pitchFamily="34" charset="-122"/>
                <a:cs typeface="Helvetica" pitchFamily="34" charset="-120"/>
              </a:rPr>
              <a:t>Every guest input goes through a sanitization layer that safeguards the actual LLM model, our system, and our data from malicious intent.</a:t>
            </a:r>
            <a:endParaRPr lang="en-US" sz="1000" dirty="0"/>
          </a:p>
        </p:txBody>
      </p:sp>
      <p:sp>
        <p:nvSpPr>
          <p:cNvPr id="14" name="Text 12"/>
          <p:cNvSpPr/>
          <p:nvPr/>
        </p:nvSpPr>
        <p:spPr>
          <a:xfrm>
            <a:off x="365760" y="2743200"/>
            <a:ext cx="3657600" cy="274320"/>
          </a:xfrm>
          <a:prstGeom prst="rect">
            <a:avLst/>
          </a:prstGeom>
          <a:noFill/>
          <a:ln/>
        </p:spPr>
        <p:txBody>
          <a:bodyPr wrap="square" rtlCol="0" anchor="ctr"/>
          <a:lstStyle/>
          <a:p>
            <a:pPr indent="0" marL="0">
              <a:buNone/>
            </a:pPr>
            <a:r>
              <a:rPr lang="en-US" sz="1400" b="1" dirty="0">
                <a:solidFill>
                  <a:srgbClr val="B8963E"/>
                </a:solidFill>
                <a:latin typeface="Helvetica" pitchFamily="34" charset="0"/>
                <a:ea typeface="Helvetica" pitchFamily="34" charset="-122"/>
                <a:cs typeface="Helvetica" pitchFamily="34" charset="-120"/>
              </a:rPr>
              <a:t>Protection Layers</a:t>
            </a:r>
            <a:endParaRPr lang="en-US" sz="1400" dirty="0"/>
          </a:p>
        </p:txBody>
      </p:sp>
      <p:sp>
        <p:nvSpPr>
          <p:cNvPr id="15" name="Shape 13"/>
          <p:cNvSpPr/>
          <p:nvPr/>
        </p:nvSpPr>
        <p:spPr>
          <a:xfrm>
            <a:off x="365760" y="3108960"/>
            <a:ext cx="8412480" cy="384048"/>
          </a:xfrm>
          <a:prstGeom prst="rect">
            <a:avLst>
              <a:gd name="adj" fmla="val 11905"/>
            </a:avLst>
          </a:prstGeom>
          <a:solidFill>
            <a:srgbClr val="FFFFFF"/>
          </a:solidFill>
          <a:ln w="9525">
            <a:solidFill>
              <a:srgbClr val="E8E4DC"/>
            </a:solidFill>
            <a:prstDash val="solid"/>
          </a:ln>
        </p:spPr>
      </p:sp>
      <p:sp>
        <p:nvSpPr>
          <p:cNvPr id="16" name="Text 14"/>
          <p:cNvSpPr/>
          <p:nvPr/>
        </p:nvSpPr>
        <p:spPr>
          <a:xfrm>
            <a:off x="502920" y="3136392"/>
            <a:ext cx="2560320" cy="329184"/>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Pre-LLM Regex Sanitizer</a:t>
            </a:r>
            <a:endParaRPr lang="en-US" sz="1000" dirty="0"/>
          </a:p>
        </p:txBody>
      </p:sp>
      <p:sp>
        <p:nvSpPr>
          <p:cNvPr id="17" name="Text 15"/>
          <p:cNvSpPr/>
          <p:nvPr/>
        </p:nvSpPr>
        <p:spPr>
          <a:xfrm>
            <a:off x="3108960" y="3136392"/>
            <a:ext cx="5486400" cy="329184"/>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Blocks prompt injection patterns: 'ignore previous', 'system:', 'assistant:'</a:t>
            </a:r>
            <a:endParaRPr lang="en-US" sz="900" dirty="0"/>
          </a:p>
        </p:txBody>
      </p:sp>
      <p:sp>
        <p:nvSpPr>
          <p:cNvPr id="18" name="Shape 16"/>
          <p:cNvSpPr/>
          <p:nvPr/>
        </p:nvSpPr>
        <p:spPr>
          <a:xfrm>
            <a:off x="365760" y="3566160"/>
            <a:ext cx="8412480" cy="384048"/>
          </a:xfrm>
          <a:prstGeom prst="rect">
            <a:avLst>
              <a:gd name="adj" fmla="val 11905"/>
            </a:avLst>
          </a:prstGeom>
          <a:solidFill>
            <a:srgbClr val="FFFFFF"/>
          </a:solidFill>
          <a:ln w="9525">
            <a:solidFill>
              <a:srgbClr val="E8E4DC"/>
            </a:solidFill>
            <a:prstDash val="solid"/>
          </a:ln>
        </p:spPr>
      </p:sp>
      <p:sp>
        <p:nvSpPr>
          <p:cNvPr id="19" name="Text 17"/>
          <p:cNvSpPr/>
          <p:nvPr/>
        </p:nvSpPr>
        <p:spPr>
          <a:xfrm>
            <a:off x="502920" y="3593592"/>
            <a:ext cx="2560320" cy="329184"/>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Guest Context Scoping</a:t>
            </a:r>
            <a:endParaRPr lang="en-US" sz="1000" dirty="0"/>
          </a:p>
        </p:txBody>
      </p:sp>
      <p:sp>
        <p:nvSpPr>
          <p:cNvPr id="20" name="Text 18"/>
          <p:cNvSpPr/>
          <p:nvPr/>
        </p:nvSpPr>
        <p:spPr>
          <a:xfrm>
            <a:off x="3108960" y="3593592"/>
            <a:ext cx="5486400" cy="329184"/>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Tool execution scoped to current booking — IDs never leave trust boundary</a:t>
            </a:r>
            <a:endParaRPr lang="en-US" sz="900" dirty="0"/>
          </a:p>
        </p:txBody>
      </p:sp>
      <p:sp>
        <p:nvSpPr>
          <p:cNvPr id="21" name="Shape 19"/>
          <p:cNvSpPr/>
          <p:nvPr/>
        </p:nvSpPr>
        <p:spPr>
          <a:xfrm>
            <a:off x="365760" y="4023360"/>
            <a:ext cx="8412480" cy="384048"/>
          </a:xfrm>
          <a:prstGeom prst="rect">
            <a:avLst>
              <a:gd name="adj" fmla="val 11905"/>
            </a:avLst>
          </a:prstGeom>
          <a:solidFill>
            <a:srgbClr val="FFFFFF"/>
          </a:solidFill>
          <a:ln w="9525">
            <a:solidFill>
              <a:srgbClr val="E8E4DC"/>
            </a:solidFill>
            <a:prstDash val="solid"/>
          </a:ln>
        </p:spPr>
      </p:sp>
      <p:sp>
        <p:nvSpPr>
          <p:cNvPr id="22" name="Text 20"/>
          <p:cNvSpPr/>
          <p:nvPr/>
        </p:nvSpPr>
        <p:spPr>
          <a:xfrm>
            <a:off x="502920" y="4050792"/>
            <a:ext cx="2560320" cy="329184"/>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Proposal/Confirmation</a:t>
            </a:r>
            <a:endParaRPr lang="en-US" sz="1000" dirty="0"/>
          </a:p>
        </p:txBody>
      </p:sp>
      <p:sp>
        <p:nvSpPr>
          <p:cNvPr id="23" name="Text 21"/>
          <p:cNvSpPr/>
          <p:nvPr/>
        </p:nvSpPr>
        <p:spPr>
          <a:xfrm>
            <a:off x="3108960" y="4050792"/>
            <a:ext cx="5486400" cy="329184"/>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Side-effect tools require explicit guest confirmation before execution</a:t>
            </a:r>
            <a:endParaRPr lang="en-US" sz="900" dirty="0"/>
          </a:p>
        </p:txBody>
      </p:sp>
      <p:sp>
        <p:nvSpPr>
          <p:cNvPr id="24" name="Shape 22"/>
          <p:cNvSpPr/>
          <p:nvPr/>
        </p:nvSpPr>
        <p:spPr>
          <a:xfrm>
            <a:off x="365760" y="4480560"/>
            <a:ext cx="8412480" cy="384048"/>
          </a:xfrm>
          <a:prstGeom prst="rect">
            <a:avLst>
              <a:gd name="adj" fmla="val 11905"/>
            </a:avLst>
          </a:prstGeom>
          <a:solidFill>
            <a:srgbClr val="FFFFFF"/>
          </a:solidFill>
          <a:ln w="9525">
            <a:solidFill>
              <a:srgbClr val="E8E4DC"/>
            </a:solidFill>
            <a:prstDash val="solid"/>
          </a:ln>
        </p:spPr>
      </p:sp>
      <p:sp>
        <p:nvSpPr>
          <p:cNvPr id="25" name="Text 23"/>
          <p:cNvSpPr/>
          <p:nvPr/>
        </p:nvSpPr>
        <p:spPr>
          <a:xfrm>
            <a:off x="502920" y="4507992"/>
            <a:ext cx="2560320" cy="329184"/>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Audit Trail</a:t>
            </a:r>
            <a:endParaRPr lang="en-US" sz="1000" dirty="0"/>
          </a:p>
        </p:txBody>
      </p:sp>
      <p:sp>
        <p:nvSpPr>
          <p:cNvPr id="26" name="Text 24"/>
          <p:cNvSpPr/>
          <p:nvPr/>
        </p:nvSpPr>
        <p:spPr>
          <a:xfrm>
            <a:off x="3108960" y="4507992"/>
            <a:ext cx="5486400" cy="329184"/>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Every tool call, proposal, and action logged with correlation IDs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Core Architectural Problem &amp; Solution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Orchestrating Real-Time Operations</a:t>
            </a:r>
            <a:endParaRPr lang="en-US" sz="1200" dirty="0"/>
          </a:p>
        </p:txBody>
      </p:sp>
      <p:sp>
        <p:nvSpPr>
          <p:cNvPr id="7" name="Shape 5"/>
          <p:cNvSpPr/>
          <p:nvPr/>
        </p:nvSpPr>
        <p:spPr>
          <a:xfrm>
            <a:off x="365760" y="1005840"/>
            <a:ext cx="8412480" cy="411480"/>
          </a:xfrm>
          <a:prstGeom prst="rect">
            <a:avLst>
              <a:gd name="adj" fmla="val 13333"/>
            </a:avLst>
          </a:prstGeom>
          <a:solidFill>
            <a:srgbClr val="FFF5F5"/>
          </a:solidFill>
          <a:ln w="9525">
            <a:solidFill>
              <a:srgbClr val="C0392B"/>
            </a:solidFill>
            <a:prstDash val="solid"/>
          </a:ln>
        </p:spPr>
      </p:sp>
      <p:sp>
        <p:nvSpPr>
          <p:cNvPr id="8" name="Text 6"/>
          <p:cNvSpPr/>
          <p:nvPr/>
        </p:nvSpPr>
        <p:spPr>
          <a:xfrm>
            <a:off x="502920" y="1024128"/>
            <a:ext cx="8138160" cy="36576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The Silo Problem: Without real-time alerts, departments operate in isolation. Housekeeping misses dirty room states, and the kitchen misses orders. The SignalR Ecosystem bridges this gap instantly.</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914400"/>
        </p:xfrm>
        <a:graphic>
          <a:graphicData uri="http://schemas.openxmlformats.org/drawingml/2006/table">
            <a:tbl>
              <a:tblPr/>
              <a:tblGrid>
                <a:gridCol w="2560320"/>
                <a:gridCol w="2743200"/>
                <a:gridCol w="3108960"/>
              </a:tblGrid>
              <a:tr h="292608">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EVENT TRIGGER</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DEPARTMENT ALERTED</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900" b="1" dirty="0">
                          <a:solidFill>
                            <a:srgbClr val="FFFFFF"/>
                          </a:solidFill>
                          <a:latin typeface="Helvetica" pitchFamily="34" charset="0"/>
                          <a:ea typeface="Helvetica" pitchFamily="34" charset="-122"/>
                          <a:cs typeface="Helvetica" pitchFamily="34" charset="-120"/>
                        </a:rPr>
                        <a:t>REAL-TIME RESULT</a:t>
                      </a:r>
                      <a:endParaRPr lang="en-US" sz="90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r>
              <a:tr h="292608">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Guest Checkout</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HousekeepingGroup</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Task auto-assigned</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92608">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Food Order Logged</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KitchenGroup</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Instant dashboard refresh</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92608">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Emergency Ticket</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MaintenanceGroup</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50" dirty="0">
                          <a:solidFill>
                            <a:srgbClr val="000000"/>
                          </a:solidFill>
                          <a:latin typeface="Helvetica" pitchFamily="34" charset="0"/>
                          <a:ea typeface="Helvetica" pitchFamily="34" charset="-122"/>
                          <a:cs typeface="Helvetica" pitchFamily="34" charset="-120"/>
                        </a:rPr>
                        <a:t>Dispatches instant alerts</a:t>
                      </a:r>
                      <a:endParaRPr lang="en-US" sz="850" dirty="0">
                        <a:latin typeface="Helvetica" charset="0"/>
                        <a:ea typeface="Helvetica" charset="0"/>
                        <a:cs typeface="Helvetic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10" name="Shape 7"/>
          <p:cNvSpPr/>
          <p:nvPr/>
        </p:nvSpPr>
        <p:spPr>
          <a:xfrm>
            <a:off x="365760" y="2468880"/>
            <a:ext cx="3840480" cy="1463040"/>
          </a:xfrm>
          <a:prstGeom prst="rect">
            <a:avLst>
              <a:gd name="adj" fmla="val 3750"/>
            </a:avLst>
          </a:prstGeom>
          <a:solidFill>
            <a:srgbClr val="F8F6F2"/>
          </a:solidFill>
          <a:ln w="9525">
            <a:solidFill>
              <a:srgbClr val="E8E4DC"/>
            </a:solidFill>
            <a:prstDash val="solid"/>
          </a:ln>
        </p:spPr>
      </p:sp>
      <p:sp>
        <p:nvSpPr>
          <p:cNvPr id="11" name="Text 8"/>
          <p:cNvSpPr/>
          <p:nvPr/>
        </p:nvSpPr>
        <p:spPr>
          <a:xfrm>
            <a:off x="502920" y="2542032"/>
            <a:ext cx="3566160" cy="1280160"/>
          </a:xfrm>
          <a:prstGeom prst="rect">
            <a:avLst/>
          </a:prstGeom>
          <a:noFill/>
          <a:ln/>
        </p:spPr>
        <p:txBody>
          <a:bodyPr wrap="square" rtlCol="0" anchor="ctr"/>
          <a:lstStyle/>
          <a:p>
            <a:pPr indent="0" marL="0">
              <a:lnSpc>
                <a:spcPct val="90000"/>
              </a:lnSpc>
              <a:buNone/>
            </a:pPr>
            <a:r>
              <a:rPr lang="en-US" sz="750" dirty="0">
                <a:solidFill>
                  <a:srgbClr val="1A1A1A"/>
                </a:solidFill>
                <a:latin typeface="Menlo" pitchFamily="34" charset="0"/>
                <a:ea typeface="Menlo" pitchFamily="34" charset="-122"/>
                <a:cs typeface="Menlo" pitchFamily="34" charset="-120"/>
              </a:rPr>
              <a:t>// Connect with explicit auth handshake</a:t>
            </a: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const connection = new HubConnectionBuilder()</a:t>
            </a: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  .withUrl("/notifications", {</a:t>
            </a: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    accessTokenFactory: () =&gt; this.jwtToken</a:t>
            </a: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  })</a:t>
            </a: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  .build();</a:t>
            </a:r>
            <a:endParaRPr lang="en-US" sz="750" dirty="0"/>
          </a:p>
          <a:p>
            <a:pPr indent="0" marL="0">
              <a:lnSpc>
                <a:spcPct val="90000"/>
              </a:lnSpc>
              <a:buNone/>
            </a:pPr>
            <a:endParaRPr lang="en-US" sz="750" dirty="0"/>
          </a:p>
          <a:p>
            <a:pPr indent="0" marL="0">
              <a:lnSpc>
                <a:spcPct val="90000"/>
              </a:lnSpc>
              <a:buNone/>
            </a:pPr>
            <a:r>
              <a:rPr lang="en-US" sz="750" dirty="0">
                <a:solidFill>
                  <a:srgbClr val="1A1A1A"/>
                </a:solidFill>
                <a:latin typeface="Menlo" pitchFamily="34" charset="0"/>
                <a:ea typeface="Menlo" pitchFamily="34" charset="-122"/>
                <a:cs typeface="Menlo" pitchFamily="34" charset="-120"/>
              </a:rPr>
              <a:t>await connection.start();</a:t>
            </a:r>
            <a:endParaRPr lang="en-US" sz="750" dirty="0"/>
          </a:p>
        </p:txBody>
      </p:sp>
      <p:sp>
        <p:nvSpPr>
          <p:cNvPr id="12" name="Shape 9"/>
          <p:cNvSpPr/>
          <p:nvPr/>
        </p:nvSpPr>
        <p:spPr>
          <a:xfrm>
            <a:off x="4572000" y="2468880"/>
            <a:ext cx="4206240" cy="1463040"/>
          </a:xfrm>
          <a:prstGeom prst="rect">
            <a:avLst>
              <a:gd name="adj" fmla="val 5000"/>
            </a:avLst>
          </a:prstGeom>
          <a:solidFill>
            <a:srgbClr val="FFFFFF"/>
          </a:solidFill>
          <a:ln w="9525">
            <a:solidFill>
              <a:srgbClr val="E8E4DC"/>
            </a:solidFill>
            <a:prstDash val="solid"/>
          </a:ln>
        </p:spPr>
      </p:sp>
      <p:sp>
        <p:nvSpPr>
          <p:cNvPr id="13" name="Text 10"/>
          <p:cNvSpPr/>
          <p:nvPr/>
        </p:nvSpPr>
        <p:spPr>
          <a:xfrm>
            <a:off x="4709160" y="2514600"/>
            <a:ext cx="393192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Reactive Frontend Architecture</a:t>
            </a:r>
            <a:endParaRPr lang="en-US" sz="1000" dirty="0"/>
          </a:p>
        </p:txBody>
      </p:sp>
      <p:sp>
        <p:nvSpPr>
          <p:cNvPr id="14" name="Text 11"/>
          <p:cNvSpPr/>
          <p:nvPr/>
        </p:nvSpPr>
        <p:spPr>
          <a:xfrm>
            <a:off x="4709160" y="2788920"/>
            <a:ext cx="3931920" cy="64008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The client intercepts real-time events as streaming RxJS streams. This triggers glassmorphic UI toast alerts and real-time dashboard state updates. Completely eliminates client-side polling.</a:t>
            </a:r>
            <a:endParaRPr lang="en-US" sz="900" dirty="0"/>
          </a:p>
        </p:txBody>
      </p:sp>
      <p:sp>
        <p:nvSpPr>
          <p:cNvPr id="15" name="Text 12"/>
          <p:cNvSpPr/>
          <p:nvPr/>
        </p:nvSpPr>
        <p:spPr>
          <a:xfrm>
            <a:off x="365760" y="4206240"/>
            <a:ext cx="8412480" cy="502920"/>
          </a:xfrm>
          <a:prstGeom prst="rect">
            <a:avLst/>
          </a:prstGeom>
          <a:noFill/>
          <a:ln/>
        </p:spPr>
        <p:txBody>
          <a:bodyPr wrap="square" rtlCol="0" anchor="ctr"/>
          <a:lstStyle/>
          <a:p>
            <a:pPr indent="0" marL="0">
              <a:lnSpc>
                <a:spcPct val="100000"/>
              </a:lnSpc>
              <a:buNone/>
            </a:pPr>
            <a:r>
              <a:rPr lang="en-US" sz="850" dirty="0">
                <a:solidFill>
                  <a:srgbClr val="B8963E"/>
                </a:solidFill>
                <a:latin typeface="Menlo" pitchFamily="34" charset="0"/>
                <a:ea typeface="Menlo" pitchFamily="34" charset="-122"/>
                <a:cs typeface="Menlo" pitchFamily="34" charset="-120"/>
              </a:rPr>
              <a:t>[HousekeepingGroup] Task Active    [KitchenGroup] Food Order #204    [MaintenanceGroup] Emergency Ticket    Just now via Notifications Hub</a:t>
            </a:r>
            <a:endParaRPr lang="en-US" sz="850" dirty="0"/>
          </a:p>
        </p:txBody>
      </p:sp>
      <p:sp>
        <p:nvSpPr>
          <p:cNvPr id="16" name="Text 13"/>
          <p:cNvSpPr/>
          <p:nvPr/>
        </p:nvSpPr>
        <p:spPr>
          <a:xfrm>
            <a:off x="365760" y="4663440"/>
            <a:ext cx="8412480" cy="182880"/>
          </a:xfrm>
          <a:prstGeom prst="rect">
            <a:avLst/>
          </a:prstGeom>
          <a:noFill/>
          <a:ln/>
        </p:spPr>
        <p:txBody>
          <a:bodyPr wrap="square" rtlCol="0" anchor="ctr"/>
          <a:lstStyle/>
          <a:p>
            <a:pPr algn="ctr" indent="0" marL="0">
              <a:buNone/>
            </a:pPr>
            <a:r>
              <a:rPr lang="en-US" sz="700" dirty="0">
                <a:solidFill>
                  <a:srgbClr val="E8E4DC"/>
                </a:solidFill>
                <a:latin typeface="Helvetica" pitchFamily="34" charset="0"/>
                <a:ea typeface="Helvetica" pitchFamily="34" charset="-122"/>
                <a:cs typeface="Helvetica" pitchFamily="34" charset="-120"/>
              </a:rPr>
              <a:t>SIGNALR PIPELINE • INTEGRITY VALIDATED</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Engineering Excellence</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The Safety Net</a:t>
            </a:r>
            <a:endParaRPr lang="en-US" sz="1200" dirty="0"/>
          </a:p>
        </p:txBody>
      </p:sp>
      <p:sp>
        <p:nvSpPr>
          <p:cNvPr id="7" name="Shape 5"/>
          <p:cNvSpPr/>
          <p:nvPr/>
        </p:nvSpPr>
        <p:spPr>
          <a:xfrm>
            <a:off x="365760" y="1097280"/>
            <a:ext cx="4023360" cy="1280160"/>
          </a:xfrm>
          <a:prstGeom prst="rect">
            <a:avLst>
              <a:gd name="adj" fmla="val 5714"/>
            </a:avLst>
          </a:prstGeom>
          <a:solidFill>
            <a:srgbClr val="FFFFFF"/>
          </a:solidFill>
          <a:ln w="9525">
            <a:solidFill>
              <a:srgbClr val="E8E4DC"/>
            </a:solidFill>
            <a:prstDash val="solid"/>
          </a:ln>
        </p:spPr>
      </p:sp>
      <p:sp>
        <p:nvSpPr>
          <p:cNvPr id="8" name="Shape 6"/>
          <p:cNvSpPr/>
          <p:nvPr/>
        </p:nvSpPr>
        <p:spPr>
          <a:xfrm>
            <a:off x="502920" y="1234440"/>
            <a:ext cx="457200" cy="457200"/>
          </a:xfrm>
          <a:prstGeom prst="ellipse">
            <a:avLst/>
          </a:prstGeom>
          <a:solidFill>
            <a:srgbClr val="C8A84E"/>
          </a:solidFill>
          <a:ln/>
        </p:spPr>
      </p:sp>
      <p:sp>
        <p:nvSpPr>
          <p:cNvPr id="9" name="Text 7"/>
          <p:cNvSpPr/>
          <p:nvPr/>
        </p:nvSpPr>
        <p:spPr>
          <a:xfrm>
            <a:off x="502920" y="1234440"/>
            <a:ext cx="457200" cy="457200"/>
          </a:xfrm>
          <a:prstGeom prst="rect">
            <a:avLst/>
          </a:prstGeom>
          <a:noFill/>
          <a:ln/>
        </p:spPr>
        <p:txBody>
          <a:bodyPr wrap="square"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01</a:t>
            </a:r>
            <a:endParaRPr lang="en-US" sz="1600" dirty="0"/>
          </a:p>
        </p:txBody>
      </p:sp>
      <p:sp>
        <p:nvSpPr>
          <p:cNvPr id="10" name="Text 8"/>
          <p:cNvSpPr/>
          <p:nvPr/>
        </p:nvSpPr>
        <p:spPr>
          <a:xfrm>
            <a:off x="1097280" y="1188720"/>
            <a:ext cx="3108960" cy="228600"/>
          </a:xfrm>
          <a:prstGeom prst="rect">
            <a:avLst/>
          </a:prstGeom>
          <a:noFill/>
          <a:ln/>
        </p:spPr>
        <p:txBody>
          <a:bodyPr wrap="square"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Transaction Safety</a:t>
            </a:r>
            <a:endParaRPr lang="en-US" sz="1300" dirty="0"/>
          </a:p>
        </p:txBody>
      </p:sp>
      <p:sp>
        <p:nvSpPr>
          <p:cNvPr id="11" name="Text 9"/>
          <p:cNvSpPr/>
          <p:nvPr/>
        </p:nvSpPr>
        <p:spPr>
          <a:xfrm>
            <a:off x="1097280" y="1417320"/>
            <a:ext cx="3108960" cy="18288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Idempotency System</a:t>
            </a:r>
            <a:endParaRPr lang="en-US" sz="1000" dirty="0"/>
          </a:p>
        </p:txBody>
      </p:sp>
      <p:sp>
        <p:nvSpPr>
          <p:cNvPr id="12" name="Text 10"/>
          <p:cNvSpPr/>
          <p:nvPr/>
        </p:nvSpPr>
        <p:spPr>
          <a:xfrm>
            <a:off x="502920" y="1783080"/>
            <a:ext cx="3749040" cy="5029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Uses an X-Idempotency-Key header to handle double-bookings and double-charges.</a:t>
            </a:r>
            <a:endParaRPr lang="en-US" sz="900" dirty="0"/>
          </a:p>
        </p:txBody>
      </p:sp>
      <p:sp>
        <p:nvSpPr>
          <p:cNvPr id="13" name="Shape 11"/>
          <p:cNvSpPr/>
          <p:nvPr/>
        </p:nvSpPr>
        <p:spPr>
          <a:xfrm>
            <a:off x="4754880" y="1097280"/>
            <a:ext cx="4023360" cy="1280160"/>
          </a:xfrm>
          <a:prstGeom prst="rect">
            <a:avLst>
              <a:gd name="adj" fmla="val 5714"/>
            </a:avLst>
          </a:prstGeom>
          <a:solidFill>
            <a:srgbClr val="FFFFFF"/>
          </a:solidFill>
          <a:ln w="9525">
            <a:solidFill>
              <a:srgbClr val="E8E4DC"/>
            </a:solidFill>
            <a:prstDash val="solid"/>
          </a:ln>
        </p:spPr>
      </p:sp>
      <p:sp>
        <p:nvSpPr>
          <p:cNvPr id="14" name="Shape 12"/>
          <p:cNvSpPr/>
          <p:nvPr/>
        </p:nvSpPr>
        <p:spPr>
          <a:xfrm>
            <a:off x="4892040" y="1234440"/>
            <a:ext cx="457200" cy="457200"/>
          </a:xfrm>
          <a:prstGeom prst="ellipse">
            <a:avLst/>
          </a:prstGeom>
          <a:solidFill>
            <a:srgbClr val="C8A84E"/>
          </a:solidFill>
          <a:ln/>
        </p:spPr>
      </p:sp>
      <p:sp>
        <p:nvSpPr>
          <p:cNvPr id="15" name="Text 13"/>
          <p:cNvSpPr/>
          <p:nvPr/>
        </p:nvSpPr>
        <p:spPr>
          <a:xfrm>
            <a:off x="4892040" y="1234440"/>
            <a:ext cx="457200" cy="457200"/>
          </a:xfrm>
          <a:prstGeom prst="rect">
            <a:avLst/>
          </a:prstGeom>
          <a:noFill/>
          <a:ln/>
        </p:spPr>
        <p:txBody>
          <a:bodyPr wrap="square"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02</a:t>
            </a:r>
            <a:endParaRPr lang="en-US" sz="1600" dirty="0"/>
          </a:p>
        </p:txBody>
      </p:sp>
      <p:sp>
        <p:nvSpPr>
          <p:cNvPr id="16" name="Text 14"/>
          <p:cNvSpPr/>
          <p:nvPr/>
        </p:nvSpPr>
        <p:spPr>
          <a:xfrm>
            <a:off x="5486400" y="1188720"/>
            <a:ext cx="3108960" cy="228600"/>
          </a:xfrm>
          <a:prstGeom prst="rect">
            <a:avLst/>
          </a:prstGeom>
          <a:noFill/>
          <a:ln/>
        </p:spPr>
        <p:txBody>
          <a:bodyPr wrap="square"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Compliance &amp; Audit</a:t>
            </a:r>
            <a:endParaRPr lang="en-US" sz="1300" dirty="0"/>
          </a:p>
        </p:txBody>
      </p:sp>
      <p:sp>
        <p:nvSpPr>
          <p:cNvPr id="17" name="Text 15"/>
          <p:cNvSpPr/>
          <p:nvPr/>
        </p:nvSpPr>
        <p:spPr>
          <a:xfrm>
            <a:off x="5486400" y="1417320"/>
            <a:ext cx="3108960" cy="18288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Automated Audit Logging</a:t>
            </a:r>
            <a:endParaRPr lang="en-US" sz="1000" dirty="0"/>
          </a:p>
        </p:txBody>
      </p:sp>
      <p:sp>
        <p:nvSpPr>
          <p:cNvPr id="18" name="Text 16"/>
          <p:cNvSpPr/>
          <p:nvPr/>
        </p:nvSpPr>
        <p:spPr>
          <a:xfrm>
            <a:off x="4892040" y="1783080"/>
            <a:ext cx="3749040" cy="5029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Overrides SaveChangesAsync to capture old and new values in PostgreSQL JSONB.</a:t>
            </a:r>
            <a:endParaRPr lang="en-US" sz="900" dirty="0"/>
          </a:p>
        </p:txBody>
      </p:sp>
      <p:sp>
        <p:nvSpPr>
          <p:cNvPr id="19" name="Shape 17"/>
          <p:cNvSpPr/>
          <p:nvPr/>
        </p:nvSpPr>
        <p:spPr>
          <a:xfrm>
            <a:off x="365760" y="2560320"/>
            <a:ext cx="4023360" cy="1280160"/>
          </a:xfrm>
          <a:prstGeom prst="rect">
            <a:avLst>
              <a:gd name="adj" fmla="val 5714"/>
            </a:avLst>
          </a:prstGeom>
          <a:solidFill>
            <a:srgbClr val="FFFFFF"/>
          </a:solidFill>
          <a:ln w="9525">
            <a:solidFill>
              <a:srgbClr val="E8E4DC"/>
            </a:solidFill>
            <a:prstDash val="solid"/>
          </a:ln>
        </p:spPr>
      </p:sp>
      <p:sp>
        <p:nvSpPr>
          <p:cNvPr id="20" name="Shape 18"/>
          <p:cNvSpPr/>
          <p:nvPr/>
        </p:nvSpPr>
        <p:spPr>
          <a:xfrm>
            <a:off x="502920" y="2697480"/>
            <a:ext cx="457200" cy="457200"/>
          </a:xfrm>
          <a:prstGeom prst="ellipse">
            <a:avLst/>
          </a:prstGeom>
          <a:solidFill>
            <a:srgbClr val="C8A84E"/>
          </a:solidFill>
          <a:ln/>
        </p:spPr>
      </p:sp>
      <p:sp>
        <p:nvSpPr>
          <p:cNvPr id="21" name="Text 19"/>
          <p:cNvSpPr/>
          <p:nvPr/>
        </p:nvSpPr>
        <p:spPr>
          <a:xfrm>
            <a:off x="502920" y="2697480"/>
            <a:ext cx="457200" cy="457200"/>
          </a:xfrm>
          <a:prstGeom prst="rect">
            <a:avLst/>
          </a:prstGeom>
          <a:noFill/>
          <a:ln/>
        </p:spPr>
        <p:txBody>
          <a:bodyPr wrap="square"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03</a:t>
            </a:r>
            <a:endParaRPr lang="en-US" sz="1600" dirty="0"/>
          </a:p>
        </p:txBody>
      </p:sp>
      <p:sp>
        <p:nvSpPr>
          <p:cNvPr id="22" name="Text 20"/>
          <p:cNvSpPr/>
          <p:nvPr/>
        </p:nvSpPr>
        <p:spPr>
          <a:xfrm>
            <a:off x="1097280" y="2651760"/>
            <a:ext cx="3108960" cy="228600"/>
          </a:xfrm>
          <a:prstGeom prst="rect">
            <a:avLst/>
          </a:prstGeom>
          <a:noFill/>
          <a:ln/>
        </p:spPr>
        <p:txBody>
          <a:bodyPr wrap="square"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Access Control</a:t>
            </a:r>
            <a:endParaRPr lang="en-US" sz="1300" dirty="0"/>
          </a:p>
        </p:txBody>
      </p:sp>
      <p:sp>
        <p:nvSpPr>
          <p:cNvPr id="23" name="Text 21"/>
          <p:cNvSpPr/>
          <p:nvPr/>
        </p:nvSpPr>
        <p:spPr>
          <a:xfrm>
            <a:off x="1097280" y="2880360"/>
            <a:ext cx="3108960" cy="18288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6-Role RBAC</a:t>
            </a:r>
            <a:endParaRPr lang="en-US" sz="1000" dirty="0"/>
          </a:p>
        </p:txBody>
      </p:sp>
      <p:sp>
        <p:nvSpPr>
          <p:cNvPr id="24" name="Text 22"/>
          <p:cNvSpPr/>
          <p:nvPr/>
        </p:nvSpPr>
        <p:spPr>
          <a:xfrm>
            <a:off x="502920" y="3246120"/>
            <a:ext cx="3749040" cy="5029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Utilizes a 4-layer security model with protected controllers.</a:t>
            </a:r>
            <a:endParaRPr lang="en-US" sz="900" dirty="0"/>
          </a:p>
        </p:txBody>
      </p:sp>
      <p:sp>
        <p:nvSpPr>
          <p:cNvPr id="25" name="Shape 23"/>
          <p:cNvSpPr/>
          <p:nvPr/>
        </p:nvSpPr>
        <p:spPr>
          <a:xfrm>
            <a:off x="4754880" y="2560320"/>
            <a:ext cx="4023360" cy="1280160"/>
          </a:xfrm>
          <a:prstGeom prst="rect">
            <a:avLst>
              <a:gd name="adj" fmla="val 5714"/>
            </a:avLst>
          </a:prstGeom>
          <a:solidFill>
            <a:srgbClr val="FFFFFF"/>
          </a:solidFill>
          <a:ln w="9525">
            <a:solidFill>
              <a:srgbClr val="E8E4DC"/>
            </a:solidFill>
            <a:prstDash val="solid"/>
          </a:ln>
        </p:spPr>
      </p:sp>
      <p:sp>
        <p:nvSpPr>
          <p:cNvPr id="26" name="Shape 24"/>
          <p:cNvSpPr/>
          <p:nvPr/>
        </p:nvSpPr>
        <p:spPr>
          <a:xfrm>
            <a:off x="4892040" y="2697480"/>
            <a:ext cx="457200" cy="457200"/>
          </a:xfrm>
          <a:prstGeom prst="ellipse">
            <a:avLst/>
          </a:prstGeom>
          <a:solidFill>
            <a:srgbClr val="C8A84E"/>
          </a:solidFill>
          <a:ln/>
        </p:spPr>
      </p:sp>
      <p:sp>
        <p:nvSpPr>
          <p:cNvPr id="27" name="Text 25"/>
          <p:cNvSpPr/>
          <p:nvPr/>
        </p:nvSpPr>
        <p:spPr>
          <a:xfrm>
            <a:off x="4892040" y="2697480"/>
            <a:ext cx="457200" cy="457200"/>
          </a:xfrm>
          <a:prstGeom prst="rect">
            <a:avLst/>
          </a:prstGeom>
          <a:noFill/>
          <a:ln/>
        </p:spPr>
        <p:txBody>
          <a:bodyPr wrap="square"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04</a:t>
            </a:r>
            <a:endParaRPr lang="en-US" sz="1600" dirty="0"/>
          </a:p>
        </p:txBody>
      </p:sp>
      <p:sp>
        <p:nvSpPr>
          <p:cNvPr id="28" name="Text 26"/>
          <p:cNvSpPr/>
          <p:nvPr/>
        </p:nvSpPr>
        <p:spPr>
          <a:xfrm>
            <a:off x="5486400" y="2651760"/>
            <a:ext cx="3108960" cy="228600"/>
          </a:xfrm>
          <a:prstGeom prst="rect">
            <a:avLst/>
          </a:prstGeom>
          <a:noFill/>
          <a:ln/>
        </p:spPr>
        <p:txBody>
          <a:bodyPr wrap="square" rtlCol="0" anchor="ctr"/>
          <a:lstStyle/>
          <a:p>
            <a:pPr indent="0" marL="0">
              <a:buNone/>
            </a:pPr>
            <a:r>
              <a:rPr lang="en-US" sz="1300" b="1" dirty="0">
                <a:solidFill>
                  <a:srgbClr val="1A1A1A"/>
                </a:solidFill>
                <a:latin typeface="Helvetica" pitchFamily="34" charset="0"/>
                <a:ea typeface="Helvetica" pitchFamily="34" charset="-122"/>
                <a:cs typeface="Helvetica" pitchFamily="34" charset="-120"/>
              </a:rPr>
              <a:t>Testing &amp; Stability</a:t>
            </a:r>
            <a:endParaRPr lang="en-US" sz="1300" dirty="0"/>
          </a:p>
        </p:txBody>
      </p:sp>
      <p:sp>
        <p:nvSpPr>
          <p:cNvPr id="29" name="Text 27"/>
          <p:cNvSpPr/>
          <p:nvPr/>
        </p:nvSpPr>
        <p:spPr>
          <a:xfrm>
            <a:off x="5486400" y="2880360"/>
            <a:ext cx="3108960" cy="18288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Code Quality</a:t>
            </a:r>
            <a:endParaRPr lang="en-US" sz="1000" dirty="0"/>
          </a:p>
        </p:txBody>
      </p:sp>
      <p:sp>
        <p:nvSpPr>
          <p:cNvPr id="30" name="Text 28"/>
          <p:cNvSpPr/>
          <p:nvPr/>
        </p:nvSpPr>
        <p:spPr>
          <a:xfrm>
            <a:off x="4892040" y="3246120"/>
            <a:ext cx="3749040" cy="50292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29 unit tests (93% BLL coverage), static analysis, and 47 EF Core migrations with Up/Down logic.</a:t>
            </a:r>
            <a:endParaRPr lang="en-US" sz="900" dirty="0"/>
          </a:p>
        </p:txBody>
      </p:sp>
      <p:sp>
        <p:nvSpPr>
          <p:cNvPr id="31" name="Text 29"/>
          <p:cNvSpPr/>
          <p:nvPr/>
        </p:nvSpPr>
        <p:spPr>
          <a:xfrm>
            <a:off x="365760" y="4686300"/>
            <a:ext cx="8412480" cy="274320"/>
          </a:xfrm>
          <a:prstGeom prst="rect">
            <a:avLst/>
          </a:prstGeom>
          <a:noFill/>
          <a:ln/>
        </p:spPr>
        <p:txBody>
          <a:bodyPr wrap="square" rtlCol="0" anchor="ctr"/>
          <a:lstStyle/>
          <a:p>
            <a:pPr algn="ctr" indent="0" marL="0">
              <a:buNone/>
            </a:pPr>
            <a:r>
              <a:rPr lang="en-US" sz="1100" i="1" dirty="0">
                <a:solidFill>
                  <a:srgbClr val="B8963E"/>
                </a:solidFill>
                <a:latin typeface="Georgia" pitchFamily="34" charset="0"/>
                <a:ea typeface="Georgia" pitchFamily="34" charset="-122"/>
                <a:cs typeface="Georgia" pitchFamily="34" charset="-120"/>
              </a:rPr>
              <a:t>"These aren't nice-to-haves. They're what prevent 3 AM production calls."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From Problems to Transformation</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System Evolution Matrix &amp; Architectural Roadmap</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3931920"/>
                <a:gridCol w="4480560"/>
              </a:tblGrid>
              <a:tr h="274320">
                <a:tc>
                  <a:txBody>
                    <a:bodyPr/>
                    <a:lstStyle/>
                    <a:p>
                      <a:pPr indent="0" marL="0">
                        <a:buNone/>
                      </a:pPr>
                      <a:r>
                        <a:rPr lang="en-US" sz="800" b="1" dirty="0">
                          <a:solidFill>
                            <a:srgbClr val="FFFFFF"/>
                          </a:solidFill>
                          <a:latin typeface="Helvetica" pitchFamily="34" charset="0"/>
                          <a:ea typeface="Helvetica" pitchFamily="34" charset="-122"/>
                          <a:cs typeface="Helvetica" pitchFamily="34" charset="-120"/>
                        </a:rPr>
                        <a:t>CHALLENGE / PROBLEM</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c>
                  <a:txBody>
                    <a:bodyPr/>
                    <a:lstStyle/>
                    <a:p>
                      <a:pPr indent="0" marL="0">
                        <a:buNone/>
                      </a:pPr>
                      <a:r>
                        <a:rPr lang="en-US" sz="800" b="1" dirty="0">
                          <a:solidFill>
                            <a:srgbClr val="FFFFFF"/>
                          </a:solidFill>
                          <a:latin typeface="Helvetica" pitchFamily="34" charset="0"/>
                          <a:ea typeface="Helvetica" pitchFamily="34" charset="-122"/>
                          <a:cs typeface="Helvetica" pitchFamily="34" charset="-120"/>
                        </a:rPr>
                        <a:t>ENGINEERED SOLUTION</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C8A84E"/>
                    </a:solidFill>
                  </a:tcPr>
                </a:tc>
              </a:tr>
              <a:tr h="274320">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Dangerous file uploads</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Zero-trust pipeline migration</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74320">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Manual guest calls</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AI concierge (8 action types)</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74320">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Siloed departments</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Real-time SignalR alerts</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74320">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Double-clicks risk</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Strict idempotency prevention</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274320">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Missing change history</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800" dirty="0">
                          <a:solidFill>
                            <a:srgbClr val="000000"/>
                          </a:solidFill>
                          <a:latin typeface="Helvetica" pitchFamily="34" charset="0"/>
                          <a:ea typeface="Helvetica" pitchFamily="34" charset="-122"/>
                          <a:cs typeface="Helvetica" pitchFamily="34" charset="-120"/>
                        </a:rPr>
                        <a:t>JSONB audit trails logging</a:t>
                      </a:r>
                      <a:endParaRPr lang="en-US" sz="800" dirty="0">
                        <a:latin typeface="Helvetica" charset="0"/>
                        <a:ea typeface="Helvetica" charset="0"/>
                        <a:cs typeface="Helvetica" charset="0"/>
                      </a:endParaRPr>
                    </a:p>
                  </a:txBody>
                  <a:tcPr marL="50800" marR="50800" marT="25400" marB="2540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8" name="Text 5"/>
          <p:cNvSpPr/>
          <p:nvPr/>
        </p:nvSpPr>
        <p:spPr>
          <a:xfrm>
            <a:off x="365760" y="2880360"/>
            <a:ext cx="365760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FUTURE ROADMAP</a:t>
            </a:r>
            <a:endParaRPr lang="en-US" sz="1000" dirty="0"/>
          </a:p>
        </p:txBody>
      </p:sp>
      <p:sp>
        <p:nvSpPr>
          <p:cNvPr id="9" name="Text 6"/>
          <p:cNvSpPr/>
          <p:nvPr/>
        </p:nvSpPr>
        <p:spPr>
          <a:xfrm>
            <a:off x="365760" y="3154680"/>
            <a:ext cx="4114800" cy="22860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1. Voice input processing integration</a:t>
            </a:r>
            <a:endParaRPr lang="en-US" sz="900" dirty="0"/>
          </a:p>
        </p:txBody>
      </p:sp>
      <p:sp>
        <p:nvSpPr>
          <p:cNvPr id="10" name="Text 7"/>
          <p:cNvSpPr/>
          <p:nvPr/>
        </p:nvSpPr>
        <p:spPr>
          <a:xfrm>
            <a:off x="365760" y="3429000"/>
            <a:ext cx="4114800" cy="22860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2. Proactive AI nudges system architecture</a:t>
            </a:r>
            <a:endParaRPr lang="en-US" sz="900" dirty="0"/>
          </a:p>
        </p:txBody>
      </p:sp>
      <p:sp>
        <p:nvSpPr>
          <p:cNvPr id="11" name="Text 8"/>
          <p:cNvSpPr/>
          <p:nvPr/>
        </p:nvSpPr>
        <p:spPr>
          <a:xfrm>
            <a:off x="365760" y="3703320"/>
            <a:ext cx="4114800" cy="22860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3. Mobile native applications development</a:t>
            </a:r>
            <a:endParaRPr lang="en-US" sz="900" dirty="0"/>
          </a:p>
        </p:txBody>
      </p:sp>
      <p:sp>
        <p:nvSpPr>
          <p:cNvPr id="12" name="Shape 9"/>
          <p:cNvSpPr/>
          <p:nvPr/>
        </p:nvSpPr>
        <p:spPr>
          <a:xfrm>
            <a:off x="4754880" y="2926080"/>
            <a:ext cx="1280160" cy="777240"/>
          </a:xfrm>
          <a:prstGeom prst="rect">
            <a:avLst>
              <a:gd name="adj" fmla="val 7059"/>
            </a:avLst>
          </a:prstGeom>
          <a:solidFill>
            <a:srgbClr val="FFF8E8"/>
          </a:solidFill>
          <a:ln w="9525">
            <a:solidFill>
              <a:srgbClr val="C8A84E"/>
            </a:solidFill>
            <a:prstDash val="solid"/>
          </a:ln>
        </p:spPr>
      </p:sp>
      <p:sp>
        <p:nvSpPr>
          <p:cNvPr id="13" name="Text 10"/>
          <p:cNvSpPr/>
          <p:nvPr/>
        </p:nvSpPr>
        <p:spPr>
          <a:xfrm>
            <a:off x="4754880" y="2971800"/>
            <a:ext cx="1280160" cy="365760"/>
          </a:xfrm>
          <a:prstGeom prst="rect">
            <a:avLst/>
          </a:prstGeom>
          <a:noFill/>
          <a:ln/>
        </p:spPr>
        <p:txBody>
          <a:bodyPr wrap="square" rtlCol="0" anchor="ctr"/>
          <a:lstStyle/>
          <a:p>
            <a:pPr algn="ctr" indent="0" marL="0">
              <a:buNone/>
            </a:pPr>
            <a:r>
              <a:rPr lang="en-US" sz="1600" b="1" dirty="0">
                <a:solidFill>
                  <a:srgbClr val="B8963E"/>
                </a:solidFill>
                <a:latin typeface="Georgia" pitchFamily="34" charset="0"/>
                <a:ea typeface="Georgia" pitchFamily="34" charset="-122"/>
                <a:cs typeface="Georgia" pitchFamily="34" charset="-120"/>
              </a:rPr>
              <a:t>~801</a:t>
            </a:r>
            <a:endParaRPr lang="en-US" sz="1600" dirty="0"/>
          </a:p>
        </p:txBody>
      </p:sp>
      <p:sp>
        <p:nvSpPr>
          <p:cNvPr id="14" name="Text 11"/>
          <p:cNvSpPr/>
          <p:nvPr/>
        </p:nvSpPr>
        <p:spPr>
          <a:xfrm>
            <a:off x="4754880" y="3337560"/>
            <a:ext cx="1280160" cy="274320"/>
          </a:xfrm>
          <a:prstGeom prst="rect">
            <a:avLst/>
          </a:prstGeom>
          <a:noFill/>
          <a:ln/>
        </p:spPr>
        <p:txBody>
          <a:bodyPr wrap="square" rtlCol="0" anchor="ctr"/>
          <a:lstStyle/>
          <a:p>
            <a:pPr algn="ctr" indent="0" marL="0">
              <a:buNone/>
            </a:pPr>
            <a:r>
              <a:rPr lang="en-US" sz="800" dirty="0">
                <a:solidFill>
                  <a:srgbClr val="4A4A4A"/>
                </a:solidFill>
                <a:latin typeface="Helvetica" pitchFamily="34" charset="0"/>
                <a:ea typeface="Helvetica" pitchFamily="34" charset="-122"/>
                <a:cs typeface="Helvetica" pitchFamily="34" charset="-120"/>
              </a:rPr>
              <a:t>Files Managed</a:t>
            </a:r>
            <a:endParaRPr lang="en-US" sz="800" dirty="0"/>
          </a:p>
        </p:txBody>
      </p:sp>
      <p:sp>
        <p:nvSpPr>
          <p:cNvPr id="15" name="Shape 12"/>
          <p:cNvSpPr/>
          <p:nvPr/>
        </p:nvSpPr>
        <p:spPr>
          <a:xfrm>
            <a:off x="6172200" y="2926080"/>
            <a:ext cx="1280160" cy="777240"/>
          </a:xfrm>
          <a:prstGeom prst="rect">
            <a:avLst>
              <a:gd name="adj" fmla="val 7059"/>
            </a:avLst>
          </a:prstGeom>
          <a:solidFill>
            <a:srgbClr val="FFF8E8"/>
          </a:solidFill>
          <a:ln w="9525">
            <a:solidFill>
              <a:srgbClr val="C8A84E"/>
            </a:solidFill>
            <a:prstDash val="solid"/>
          </a:ln>
        </p:spPr>
      </p:sp>
      <p:sp>
        <p:nvSpPr>
          <p:cNvPr id="16" name="Text 13"/>
          <p:cNvSpPr/>
          <p:nvPr/>
        </p:nvSpPr>
        <p:spPr>
          <a:xfrm>
            <a:off x="6172200" y="2971800"/>
            <a:ext cx="1280160" cy="365760"/>
          </a:xfrm>
          <a:prstGeom prst="rect">
            <a:avLst/>
          </a:prstGeom>
          <a:noFill/>
          <a:ln/>
        </p:spPr>
        <p:txBody>
          <a:bodyPr wrap="square" rtlCol="0" anchor="ctr"/>
          <a:lstStyle/>
          <a:p>
            <a:pPr algn="ctr" indent="0" marL="0">
              <a:buNone/>
            </a:pPr>
            <a:r>
              <a:rPr lang="en-US" sz="1600" b="1" dirty="0">
                <a:solidFill>
                  <a:srgbClr val="B8963E"/>
                </a:solidFill>
                <a:latin typeface="Georgia" pitchFamily="34" charset="0"/>
                <a:ea typeface="Georgia" pitchFamily="34" charset="-122"/>
                <a:cs typeface="Georgia" pitchFamily="34" charset="-120"/>
              </a:rPr>
              <a:t>10,000+</a:t>
            </a:r>
            <a:endParaRPr lang="en-US" sz="1600" dirty="0"/>
          </a:p>
        </p:txBody>
      </p:sp>
      <p:sp>
        <p:nvSpPr>
          <p:cNvPr id="17" name="Text 14"/>
          <p:cNvSpPr/>
          <p:nvPr/>
        </p:nvSpPr>
        <p:spPr>
          <a:xfrm>
            <a:off x="6172200" y="3337560"/>
            <a:ext cx="1280160" cy="274320"/>
          </a:xfrm>
          <a:prstGeom prst="rect">
            <a:avLst/>
          </a:prstGeom>
          <a:noFill/>
          <a:ln/>
        </p:spPr>
        <p:txBody>
          <a:bodyPr wrap="square" rtlCol="0" anchor="ctr"/>
          <a:lstStyle/>
          <a:p>
            <a:pPr algn="ctr" indent="0" marL="0">
              <a:buNone/>
            </a:pPr>
            <a:r>
              <a:rPr lang="en-US" sz="800" dirty="0">
                <a:solidFill>
                  <a:srgbClr val="4A4A4A"/>
                </a:solidFill>
                <a:latin typeface="Helvetica" pitchFamily="34" charset="0"/>
                <a:ea typeface="Helvetica" pitchFamily="34" charset="-122"/>
                <a:cs typeface="Helvetica" pitchFamily="34" charset="-120"/>
              </a:rPr>
              <a:t>Symbols Integrated</a:t>
            </a:r>
            <a:endParaRPr lang="en-US" sz="800" dirty="0"/>
          </a:p>
        </p:txBody>
      </p:sp>
      <p:sp>
        <p:nvSpPr>
          <p:cNvPr id="18" name="Shape 15"/>
          <p:cNvSpPr/>
          <p:nvPr/>
        </p:nvSpPr>
        <p:spPr>
          <a:xfrm>
            <a:off x="7589520" y="2926080"/>
            <a:ext cx="1280160" cy="777240"/>
          </a:xfrm>
          <a:prstGeom prst="rect">
            <a:avLst>
              <a:gd name="adj" fmla="val 7059"/>
            </a:avLst>
          </a:prstGeom>
          <a:solidFill>
            <a:srgbClr val="FFF8E8"/>
          </a:solidFill>
          <a:ln w="9525">
            <a:solidFill>
              <a:srgbClr val="C8A84E"/>
            </a:solidFill>
            <a:prstDash val="solid"/>
          </a:ln>
        </p:spPr>
      </p:sp>
      <p:sp>
        <p:nvSpPr>
          <p:cNvPr id="19" name="Text 16"/>
          <p:cNvSpPr/>
          <p:nvPr/>
        </p:nvSpPr>
        <p:spPr>
          <a:xfrm>
            <a:off x="7589520" y="2971800"/>
            <a:ext cx="1280160" cy="365760"/>
          </a:xfrm>
          <a:prstGeom prst="rect">
            <a:avLst/>
          </a:prstGeom>
          <a:noFill/>
          <a:ln/>
        </p:spPr>
        <p:txBody>
          <a:bodyPr wrap="square" rtlCol="0" anchor="ctr"/>
          <a:lstStyle/>
          <a:p>
            <a:pPr algn="ctr" indent="0" marL="0">
              <a:buNone/>
            </a:pPr>
            <a:r>
              <a:rPr lang="en-US" sz="1600" b="1" dirty="0">
                <a:solidFill>
                  <a:srgbClr val="B8963E"/>
                </a:solidFill>
                <a:latin typeface="Georgia" pitchFamily="34" charset="0"/>
                <a:ea typeface="Georgia" pitchFamily="34" charset="-122"/>
                <a:cs typeface="Georgia" pitchFamily="34" charset="-120"/>
              </a:rPr>
              <a:t>300</a:t>
            </a:r>
            <a:endParaRPr lang="en-US" sz="1600" dirty="0"/>
          </a:p>
        </p:txBody>
      </p:sp>
      <p:sp>
        <p:nvSpPr>
          <p:cNvPr id="20" name="Text 17"/>
          <p:cNvSpPr/>
          <p:nvPr/>
        </p:nvSpPr>
        <p:spPr>
          <a:xfrm>
            <a:off x="7589520" y="3337560"/>
            <a:ext cx="1280160" cy="274320"/>
          </a:xfrm>
          <a:prstGeom prst="rect">
            <a:avLst/>
          </a:prstGeom>
          <a:noFill/>
          <a:ln/>
        </p:spPr>
        <p:txBody>
          <a:bodyPr wrap="square" rtlCol="0" anchor="ctr"/>
          <a:lstStyle/>
          <a:p>
            <a:pPr algn="ctr" indent="0" marL="0">
              <a:buNone/>
            </a:pPr>
            <a:r>
              <a:rPr lang="en-US" sz="800" dirty="0">
                <a:solidFill>
                  <a:srgbClr val="4A4A4A"/>
                </a:solidFill>
                <a:latin typeface="Helvetica" pitchFamily="34" charset="0"/>
                <a:ea typeface="Helvetica" pitchFamily="34" charset="-122"/>
                <a:cs typeface="Helvetica" pitchFamily="34" charset="-120"/>
              </a:rPr>
              <a:t>Execution Flows</a:t>
            </a:r>
            <a:endParaRPr lang="en-US" sz="800" dirty="0"/>
          </a:p>
        </p:txBody>
      </p:sp>
      <p:sp>
        <p:nvSpPr>
          <p:cNvPr id="21" name="Shape 18"/>
          <p:cNvSpPr/>
          <p:nvPr/>
        </p:nvSpPr>
        <p:spPr>
          <a:xfrm>
            <a:off x="4754880" y="3840480"/>
            <a:ext cx="1280160" cy="777240"/>
          </a:xfrm>
          <a:prstGeom prst="rect">
            <a:avLst>
              <a:gd name="adj" fmla="val 7059"/>
            </a:avLst>
          </a:prstGeom>
          <a:solidFill>
            <a:srgbClr val="FFF8E8"/>
          </a:solidFill>
          <a:ln w="9525">
            <a:solidFill>
              <a:srgbClr val="C8A84E"/>
            </a:solidFill>
            <a:prstDash val="solid"/>
          </a:ln>
        </p:spPr>
      </p:sp>
      <p:sp>
        <p:nvSpPr>
          <p:cNvPr id="22" name="Text 19"/>
          <p:cNvSpPr/>
          <p:nvPr/>
        </p:nvSpPr>
        <p:spPr>
          <a:xfrm>
            <a:off x="4754880" y="3886200"/>
            <a:ext cx="1280160" cy="365760"/>
          </a:xfrm>
          <a:prstGeom prst="rect">
            <a:avLst/>
          </a:prstGeom>
          <a:noFill/>
          <a:ln/>
        </p:spPr>
        <p:txBody>
          <a:bodyPr wrap="square" rtlCol="0" anchor="ctr"/>
          <a:lstStyle/>
          <a:p>
            <a:pPr algn="ctr" indent="0" marL="0">
              <a:buNone/>
            </a:pPr>
            <a:r>
              <a:rPr lang="en-US" sz="1600" b="1" dirty="0">
                <a:solidFill>
                  <a:srgbClr val="B8963E"/>
                </a:solidFill>
                <a:latin typeface="Georgia" pitchFamily="34" charset="0"/>
                <a:ea typeface="Georgia" pitchFamily="34" charset="-122"/>
                <a:cs typeface="Georgia" pitchFamily="34" charset="-120"/>
              </a:rPr>
              <a:t>6-Tier</a:t>
            </a:r>
            <a:endParaRPr lang="en-US" sz="1600" dirty="0"/>
          </a:p>
        </p:txBody>
      </p:sp>
      <p:sp>
        <p:nvSpPr>
          <p:cNvPr id="23" name="Text 20"/>
          <p:cNvSpPr/>
          <p:nvPr/>
        </p:nvSpPr>
        <p:spPr>
          <a:xfrm>
            <a:off x="4754880" y="4251960"/>
            <a:ext cx="1280160" cy="274320"/>
          </a:xfrm>
          <a:prstGeom prst="rect">
            <a:avLst/>
          </a:prstGeom>
          <a:noFill/>
          <a:ln/>
        </p:spPr>
        <p:txBody>
          <a:bodyPr wrap="square" rtlCol="0" anchor="ctr"/>
          <a:lstStyle/>
          <a:p>
            <a:pPr algn="ctr" indent="0" marL="0">
              <a:buNone/>
            </a:pPr>
            <a:r>
              <a:rPr lang="en-US" sz="800" dirty="0">
                <a:solidFill>
                  <a:srgbClr val="4A4A4A"/>
                </a:solidFill>
                <a:latin typeface="Helvetica" pitchFamily="34" charset="0"/>
                <a:ea typeface="Helvetica" pitchFamily="34" charset="-122"/>
                <a:cs typeface="Helvetica" pitchFamily="34" charset="-120"/>
              </a:rPr>
              <a:t>Multi-Role System</a:t>
            </a:r>
            <a:endParaRPr lang="en-US" sz="800" dirty="0"/>
          </a:p>
        </p:txBody>
      </p:sp>
      <p:sp>
        <p:nvSpPr>
          <p:cNvPr id="24" name="Shape 21"/>
          <p:cNvSpPr/>
          <p:nvPr/>
        </p:nvSpPr>
        <p:spPr>
          <a:xfrm>
            <a:off x="6172200" y="3840480"/>
            <a:ext cx="1280160" cy="777240"/>
          </a:xfrm>
          <a:prstGeom prst="rect">
            <a:avLst>
              <a:gd name="adj" fmla="val 7059"/>
            </a:avLst>
          </a:prstGeom>
          <a:solidFill>
            <a:srgbClr val="FFF8E8"/>
          </a:solidFill>
          <a:ln w="9525">
            <a:solidFill>
              <a:srgbClr val="C8A84E"/>
            </a:solidFill>
            <a:prstDash val="solid"/>
          </a:ln>
        </p:spPr>
      </p:sp>
      <p:sp>
        <p:nvSpPr>
          <p:cNvPr id="25" name="Text 22"/>
          <p:cNvSpPr/>
          <p:nvPr/>
        </p:nvSpPr>
        <p:spPr>
          <a:xfrm>
            <a:off x="6172200" y="3886200"/>
            <a:ext cx="1280160" cy="365760"/>
          </a:xfrm>
          <a:prstGeom prst="rect">
            <a:avLst/>
          </a:prstGeom>
          <a:noFill/>
          <a:ln/>
        </p:spPr>
        <p:txBody>
          <a:bodyPr wrap="square" rtlCol="0" anchor="ctr"/>
          <a:lstStyle/>
          <a:p>
            <a:pPr algn="ctr" indent="0" marL="0">
              <a:buNone/>
            </a:pPr>
            <a:r>
              <a:rPr lang="en-US" sz="1600" b="1" dirty="0">
                <a:solidFill>
                  <a:srgbClr val="B8963E"/>
                </a:solidFill>
                <a:latin typeface="Georgia" pitchFamily="34" charset="0"/>
                <a:ea typeface="Georgia" pitchFamily="34" charset="-122"/>
                <a:cs typeface="Georgia" pitchFamily="34" charset="-120"/>
              </a:rPr>
              <a:t>&lt; 2 Mos</a:t>
            </a:r>
            <a:endParaRPr lang="en-US" sz="1600" dirty="0"/>
          </a:p>
        </p:txBody>
      </p:sp>
      <p:sp>
        <p:nvSpPr>
          <p:cNvPr id="26" name="Text 23"/>
          <p:cNvSpPr/>
          <p:nvPr/>
        </p:nvSpPr>
        <p:spPr>
          <a:xfrm>
            <a:off x="6172200" y="4251960"/>
            <a:ext cx="1280160" cy="274320"/>
          </a:xfrm>
          <a:prstGeom prst="rect">
            <a:avLst/>
          </a:prstGeom>
          <a:noFill/>
          <a:ln/>
        </p:spPr>
        <p:txBody>
          <a:bodyPr wrap="square" rtlCol="0" anchor="ctr"/>
          <a:lstStyle/>
          <a:p>
            <a:pPr algn="ctr" indent="0" marL="0">
              <a:buNone/>
            </a:pPr>
            <a:r>
              <a:rPr lang="en-US" sz="800" dirty="0">
                <a:solidFill>
                  <a:srgbClr val="4A4A4A"/>
                </a:solidFill>
                <a:latin typeface="Helvetica" pitchFamily="34" charset="0"/>
                <a:ea typeface="Helvetica" pitchFamily="34" charset="-122"/>
                <a:cs typeface="Helvetica" pitchFamily="34" charset="-120"/>
              </a:rPr>
              <a:t>Speed to Delivery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8A84E"/>
          </a:solidFill>
          <a:ln/>
        </p:spPr>
      </p:sp>
      <p:sp>
        <p:nvSpPr>
          <p:cNvPr id="3" name="Shape 1"/>
          <p:cNvSpPr/>
          <p:nvPr/>
        </p:nvSpPr>
        <p:spPr>
          <a:xfrm>
            <a:off x="36576" y="36576"/>
            <a:ext cx="9070848" cy="5070348"/>
          </a:xfrm>
          <a:prstGeom prst="rect">
            <a:avLst/>
          </a:prstGeom>
          <a:solidFill>
            <a:srgbClr val="FDFBF7"/>
          </a:solidFill>
          <a:ln/>
        </p:spPr>
      </p:sp>
      <p:sp>
        <p:nvSpPr>
          <p:cNvPr id="4" name="Text 2"/>
          <p:cNvSpPr/>
          <p:nvPr/>
        </p:nvSpPr>
        <p:spPr>
          <a:xfrm>
            <a:off x="457200" y="1097280"/>
            <a:ext cx="8229600" cy="731520"/>
          </a:xfrm>
          <a:prstGeom prst="rect">
            <a:avLst/>
          </a:prstGeom>
          <a:noFill/>
          <a:ln/>
        </p:spPr>
        <p:txBody>
          <a:bodyPr wrap="square" rtlCol="0" anchor="ctr"/>
          <a:lstStyle/>
          <a:p>
            <a:pPr algn="ctr" indent="0" marL="0">
              <a:buNone/>
            </a:pPr>
            <a:r>
              <a:rPr lang="en-US" sz="4400" b="1" dirty="0">
                <a:solidFill>
                  <a:srgbClr val="1A1A1A"/>
                </a:solidFill>
                <a:latin typeface="Georgia" pitchFamily="34" charset="0"/>
                <a:ea typeface="Georgia" pitchFamily="34" charset="-122"/>
                <a:cs typeface="Georgia" pitchFamily="34" charset="-120"/>
              </a:rPr>
              <a:t>Thank You.</a:t>
            </a:r>
            <a:endParaRPr lang="en-US" sz="4400" dirty="0"/>
          </a:p>
        </p:txBody>
      </p:sp>
      <p:sp>
        <p:nvSpPr>
          <p:cNvPr id="5" name="Text 3"/>
          <p:cNvSpPr/>
          <p:nvPr/>
        </p:nvSpPr>
        <p:spPr>
          <a:xfrm>
            <a:off x="457200" y="1783080"/>
            <a:ext cx="8229600" cy="457200"/>
          </a:xfrm>
          <a:prstGeom prst="rect">
            <a:avLst/>
          </a:prstGeom>
          <a:noFill/>
          <a:ln/>
        </p:spPr>
        <p:txBody>
          <a:bodyPr wrap="square" rtlCol="0" anchor="ctr"/>
          <a:lstStyle/>
          <a:p>
            <a:pPr algn="ctr" indent="0" marL="0">
              <a:buNone/>
            </a:pPr>
            <a:r>
              <a:rPr lang="en-US" sz="2200" dirty="0">
                <a:solidFill>
                  <a:srgbClr val="B8963E"/>
                </a:solidFill>
                <a:latin typeface="Helvetica" pitchFamily="34" charset="0"/>
                <a:ea typeface="Helvetica" pitchFamily="34" charset="-122"/>
                <a:cs typeface="Helvetica" pitchFamily="34" charset="-120"/>
              </a:rPr>
              <a:t>Questions?</a:t>
            </a:r>
            <a:endParaRPr lang="en-US" sz="2200" dirty="0"/>
          </a:p>
        </p:txBody>
      </p:sp>
      <p:sp>
        <p:nvSpPr>
          <p:cNvPr id="6" name="Shape 4"/>
          <p:cNvSpPr/>
          <p:nvPr/>
        </p:nvSpPr>
        <p:spPr>
          <a:xfrm>
            <a:off x="3200400" y="2286000"/>
            <a:ext cx="2743200" cy="27432"/>
          </a:xfrm>
          <a:prstGeom prst="rect">
            <a:avLst/>
          </a:prstGeom>
          <a:solidFill>
            <a:srgbClr val="C8A84E"/>
          </a:solidFill>
          <a:ln/>
        </p:spPr>
      </p:sp>
      <p:sp>
        <p:nvSpPr>
          <p:cNvPr id="7" name="Text 5"/>
          <p:cNvSpPr/>
          <p:nvPr/>
        </p:nvSpPr>
        <p:spPr>
          <a:xfrm>
            <a:off x="457200" y="2468880"/>
            <a:ext cx="8229600" cy="320040"/>
          </a:xfrm>
          <a:prstGeom prst="rect">
            <a:avLst/>
          </a:prstGeom>
          <a:noFill/>
          <a:ln/>
        </p:spPr>
        <p:txBody>
          <a:bodyPr wrap="square" rtlCol="0" anchor="ctr"/>
          <a:lstStyle/>
          <a:p>
            <a:pPr algn="ctr" indent="0" marL="0">
              <a:buNone/>
            </a:pPr>
            <a:r>
              <a:rPr lang="en-US" sz="1300" dirty="0">
                <a:solidFill>
                  <a:srgbClr val="4A4A4A"/>
                </a:solidFill>
                <a:latin typeface="Helvetica" pitchFamily="34" charset="0"/>
                <a:ea typeface="Helvetica" pitchFamily="34" charset="-122"/>
                <a:cs typeface="Helvetica" pitchFamily="34" charset="-120"/>
              </a:rPr>
              <a:t>Let's discuss how Aetheris can transform your hotel operations.</a:t>
            </a:r>
            <a:endParaRPr lang="en-US" sz="1300" dirty="0"/>
          </a:p>
        </p:txBody>
      </p:sp>
      <p:sp>
        <p:nvSpPr>
          <p:cNvPr id="8" name="Shape 6"/>
          <p:cNvSpPr/>
          <p:nvPr/>
        </p:nvSpPr>
        <p:spPr>
          <a:xfrm>
            <a:off x="365760" y="3200400"/>
            <a:ext cx="8412480" cy="685800"/>
          </a:xfrm>
          <a:prstGeom prst="rect">
            <a:avLst>
              <a:gd name="adj" fmla="val 10667"/>
            </a:avLst>
          </a:prstGeom>
          <a:solidFill>
            <a:srgbClr val="FFFFFF"/>
          </a:solidFill>
          <a:ln w="9525">
            <a:solidFill>
              <a:srgbClr val="E8E4DC"/>
            </a:solidFill>
            <a:prstDash val="solid"/>
          </a:ln>
        </p:spPr>
      </p:sp>
      <p:sp>
        <p:nvSpPr>
          <p:cNvPr id="9" name="Text 7"/>
          <p:cNvSpPr/>
          <p:nvPr/>
        </p:nvSpPr>
        <p:spPr>
          <a:xfrm>
            <a:off x="502920" y="3246120"/>
            <a:ext cx="2743200" cy="182880"/>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Presented By</a:t>
            </a:r>
            <a:endParaRPr lang="en-US" sz="900" dirty="0"/>
          </a:p>
        </p:txBody>
      </p:sp>
      <p:sp>
        <p:nvSpPr>
          <p:cNvPr id="10" name="Text 8"/>
          <p:cNvSpPr/>
          <p:nvPr/>
        </p:nvSpPr>
        <p:spPr>
          <a:xfrm>
            <a:off x="502920" y="3429000"/>
            <a:ext cx="2743200" cy="274320"/>
          </a:xfrm>
          <a:prstGeom prst="rect">
            <a:avLst/>
          </a:prstGeom>
          <a:noFill/>
          <a:ln/>
        </p:spPr>
        <p:txBody>
          <a:bodyPr wrap="square" rtlCol="0" anchor="ctr"/>
          <a:lstStyle/>
          <a:p>
            <a:pPr indent="0" marL="0">
              <a:buNone/>
            </a:pPr>
            <a:r>
              <a:rPr lang="en-US" sz="1400" b="1" dirty="0">
                <a:solidFill>
                  <a:srgbClr val="1A1A1A"/>
                </a:solidFill>
                <a:latin typeface="Helvetica" pitchFamily="34" charset="0"/>
                <a:ea typeface="Helvetica" pitchFamily="34" charset="-122"/>
                <a:cs typeface="Helvetica" pitchFamily="34" charset="-120"/>
              </a:rPr>
              <a:t>Nipun Sharma</a:t>
            </a:r>
            <a:endParaRPr lang="en-US" sz="1400" dirty="0"/>
          </a:p>
        </p:txBody>
      </p:sp>
      <p:sp>
        <p:nvSpPr>
          <p:cNvPr id="11" name="Text 9"/>
          <p:cNvSpPr/>
          <p:nvPr/>
        </p:nvSpPr>
        <p:spPr>
          <a:xfrm>
            <a:off x="3291840" y="3429000"/>
            <a:ext cx="3657600" cy="274320"/>
          </a:xfrm>
          <a:prstGeom prst="rect">
            <a:avLst/>
          </a:prstGeom>
          <a:noFill/>
          <a:ln/>
        </p:spPr>
        <p:txBody>
          <a:bodyPr wrap="square" rtlCol="0" anchor="ctr"/>
          <a:lstStyle/>
          <a:p>
            <a:pPr indent="0" marL="0">
              <a:buNone/>
            </a:pPr>
            <a:r>
              <a:rPr lang="en-US" sz="1000" dirty="0">
                <a:solidFill>
                  <a:srgbClr val="B8963E"/>
                </a:solidFill>
                <a:latin typeface="Helvetica" pitchFamily="34" charset="0"/>
                <a:ea typeface="Helvetica" pitchFamily="34" charset="-122"/>
                <a:cs typeface="Helvetica" pitchFamily="34" charset="-120"/>
              </a:rPr>
              <a:t>nipunsharma@presidio.com</a:t>
            </a:r>
            <a:endParaRPr lang="en-US" sz="1000" dirty="0"/>
          </a:p>
        </p:txBody>
      </p:sp>
      <p:sp>
        <p:nvSpPr>
          <p:cNvPr id="12" name="Text 10"/>
          <p:cNvSpPr/>
          <p:nvPr/>
        </p:nvSpPr>
        <p:spPr>
          <a:xfrm>
            <a:off x="457200" y="4114800"/>
            <a:ext cx="8229600" cy="274320"/>
          </a:xfrm>
          <a:prstGeom prst="rect">
            <a:avLst/>
          </a:prstGeom>
          <a:noFill/>
          <a:ln/>
        </p:spPr>
        <p:txBody>
          <a:bodyPr wrap="square" rtlCol="0" anchor="ctr"/>
          <a:lstStyle/>
          <a:p>
            <a:pPr algn="ctr" indent="0" marL="0">
              <a:buNone/>
            </a:pPr>
            <a:r>
              <a:rPr lang="en-US" sz="1000" dirty="0">
                <a:solidFill>
                  <a:srgbClr val="4A4A4A"/>
                </a:solidFill>
                <a:latin typeface="Helvetica" pitchFamily="34" charset="0"/>
                <a:ea typeface="Helvetica" pitchFamily="34" charset="-122"/>
                <a:cs typeface="Helvetica" pitchFamily="34" charset="-120"/>
              </a:rPr>
              <a:t>Aetheris — Built with Angular 22 • ASP.NET Core 10 • PostgreSQL • Azure</a:t>
            </a:r>
            <a:endParaRPr lang="en-US" sz="1000" dirty="0"/>
          </a:p>
        </p:txBody>
      </p:sp>
      <p:sp>
        <p:nvSpPr>
          <p:cNvPr id="13" name="Text 11"/>
          <p:cNvSpPr/>
          <p:nvPr/>
        </p:nvSpPr>
        <p:spPr>
          <a:xfrm>
            <a:off x="457200" y="4572000"/>
            <a:ext cx="8229600" cy="228600"/>
          </a:xfrm>
          <a:prstGeom prst="rect">
            <a:avLst/>
          </a:prstGeom>
          <a:noFill/>
          <a:ln/>
        </p:spPr>
        <p:txBody>
          <a:bodyPr wrap="square" rtlCol="0" anchor="ctr"/>
          <a:lstStyle/>
          <a:p>
            <a:pPr algn="ctr" indent="0" marL="0">
              <a:buNone/>
            </a:pPr>
            <a:r>
              <a:rPr lang="en-US" sz="800" dirty="0">
                <a:solidFill>
                  <a:srgbClr val="E8E4DC"/>
                </a:solidFill>
                <a:latin typeface="Helvetica" pitchFamily="34" charset="0"/>
                <a:ea typeface="Helvetica" pitchFamily="34" charset="-122"/>
                <a:cs typeface="Helvetica" pitchFamily="34" charset="-120"/>
              </a:rPr>
              <a:t>CONFIDENTIAL &amp; PROPRIETARY</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365760" y="182880"/>
            <a:ext cx="8412480" cy="411480"/>
          </a:xfrm>
          <a:prstGeom prst="rect">
            <a:avLst/>
          </a:prstGeom>
          <a:noFill/>
          <a:ln/>
        </p:spPr>
        <p:txBody>
          <a:bodyPr wrap="square" rtlCol="0" anchor="ctr"/>
          <a:lstStyle/>
          <a:p>
            <a:pPr indent="0" marL="0">
              <a:buNone/>
            </a:pPr>
            <a:r>
              <a:rPr lang="en-US" sz="2000" b="1" dirty="0">
                <a:solidFill>
                  <a:srgbClr val="1A1A1A"/>
                </a:solidFill>
                <a:latin typeface="Georgia" pitchFamily="34" charset="0"/>
                <a:ea typeface="Georgia" pitchFamily="34" charset="-122"/>
                <a:cs typeface="Georgia" pitchFamily="34" charset="-120"/>
              </a:rPr>
              <a:t>Direct-to-Azure Uploads</a:t>
            </a:r>
            <a:endParaRPr lang="en-US" sz="2000" dirty="0"/>
          </a:p>
        </p:txBody>
      </p:sp>
      <p:sp>
        <p:nvSpPr>
          <p:cNvPr id="3" name="Shape 1"/>
          <p:cNvSpPr/>
          <p:nvPr/>
        </p:nvSpPr>
        <p:spPr>
          <a:xfrm>
            <a:off x="365760" y="566928"/>
            <a:ext cx="2011680" cy="32004"/>
          </a:xfrm>
          <a:prstGeom prst="rect">
            <a:avLst/>
          </a:prstGeom>
          <a:solidFill>
            <a:srgbClr val="C8A84E"/>
          </a:solidFill>
          <a:ln/>
        </p:spPr>
      </p:sp>
      <p:sp>
        <p:nvSpPr>
          <p:cNvPr id="4" name="Text 2"/>
          <p:cNvSpPr/>
          <p:nvPr/>
        </p:nvSpPr>
        <p:spPr>
          <a:xfrm>
            <a:off x="365760" y="4823460"/>
            <a:ext cx="2743200" cy="228600"/>
          </a:xfrm>
          <a:prstGeom prst="rect">
            <a:avLst/>
          </a:prstGeom>
          <a:noFill/>
          <a:ln/>
        </p:spPr>
        <p:txBody>
          <a:bodyPr wrap="square" rtlCol="0" anchor="ctr"/>
          <a:lstStyle/>
          <a:p>
            <a:pPr indent="0" marL="0">
              <a:buNone/>
            </a:pPr>
            <a:r>
              <a:rPr lang="en-US" sz="700" dirty="0">
                <a:solidFill>
                  <a:srgbClr val="E8E4DC"/>
                </a:solidFill>
                <a:latin typeface="Helvetica" pitchFamily="34" charset="0"/>
                <a:ea typeface="Helvetica" pitchFamily="34" charset="-122"/>
                <a:cs typeface="Helvetica" pitchFamily="34" charset="-120"/>
              </a:rPr>
              <a:t>CONFIDENTIAL &amp; PROPRIETARY</a:t>
            </a:r>
            <a:endParaRPr lang="en-US" sz="700" dirty="0"/>
          </a:p>
        </p:txBody>
      </p:sp>
      <p:sp>
        <p:nvSpPr>
          <p:cNvPr id="5" name="Text 3"/>
          <p:cNvSpPr/>
          <p:nvPr/>
        </p:nvSpPr>
        <p:spPr>
          <a:xfrm>
            <a:off x="8046720" y="4823460"/>
            <a:ext cx="731520" cy="228600"/>
          </a:xfrm>
          <a:prstGeom prst="rect">
            <a:avLst/>
          </a:prstGeom>
          <a:noFill/>
          <a:ln/>
        </p:spPr>
        <p:txBody>
          <a:bodyPr wrap="square" rtlCol="0" anchor="ctr"/>
          <a:lstStyle/>
          <a:p>
            <a:pPr algn="r" indent="0" marL="0">
              <a:buNone/>
            </a:pPr>
            <a:r>
              <a:rPr lang="en-US" sz="700" dirty="0">
                <a:solidFill>
                  <a:srgbClr val="E8E4DC"/>
                </a:solidFill>
                <a:latin typeface="Helvetica" pitchFamily="34" charset="0"/>
                <a:ea typeface="Helvetica" pitchFamily="34" charset="-122"/>
                <a:cs typeface="Helvetica" pitchFamily="34" charset="-120"/>
              </a:rPr>
              <a:t>Aetheris</a:t>
            </a:r>
            <a:endParaRPr lang="en-US" sz="700" dirty="0"/>
          </a:p>
        </p:txBody>
      </p:sp>
      <p:sp>
        <p:nvSpPr>
          <p:cNvPr id="6" name="Text 4"/>
          <p:cNvSpPr/>
          <p:nvPr/>
        </p:nvSpPr>
        <p:spPr>
          <a:xfrm>
            <a:off x="365760" y="685800"/>
            <a:ext cx="8412480" cy="274320"/>
          </a:xfrm>
          <a:prstGeom prst="rect">
            <a:avLst/>
          </a:prstGeom>
          <a:noFill/>
          <a:ln/>
        </p:spPr>
        <p:txBody>
          <a:bodyPr wrap="square" rtlCol="0" anchor="ctr"/>
          <a:lstStyle/>
          <a:p>
            <a:pPr indent="0" marL="0">
              <a:buNone/>
            </a:pPr>
            <a:r>
              <a:rPr lang="en-US" sz="1200" dirty="0">
                <a:solidFill>
                  <a:srgbClr val="4A4A4A"/>
                </a:solidFill>
                <a:latin typeface="Helvetica" pitchFamily="34" charset="0"/>
                <a:ea typeface="Helvetica" pitchFamily="34" charset="-122"/>
                <a:cs typeface="Helvetica" pitchFamily="34" charset="-120"/>
              </a:rPr>
              <a:t>Securing the #1 Attack Vector with SAS Tokens</a:t>
            </a:r>
            <a:endParaRPr lang="en-US" sz="1200" dirty="0"/>
          </a:p>
        </p:txBody>
      </p:sp>
      <p:sp>
        <p:nvSpPr>
          <p:cNvPr id="7" name="Shape 5"/>
          <p:cNvSpPr/>
          <p:nvPr/>
        </p:nvSpPr>
        <p:spPr>
          <a:xfrm>
            <a:off x="365760" y="1005840"/>
            <a:ext cx="8412480" cy="502920"/>
          </a:xfrm>
          <a:prstGeom prst="rect">
            <a:avLst>
              <a:gd name="adj" fmla="val 10909"/>
            </a:avLst>
          </a:prstGeom>
          <a:solidFill>
            <a:srgbClr val="FFF5F5"/>
          </a:solidFill>
          <a:ln w="9525">
            <a:solidFill>
              <a:srgbClr val="C0392B"/>
            </a:solidFill>
            <a:prstDash val="solid"/>
          </a:ln>
        </p:spPr>
      </p:sp>
      <p:sp>
        <p:nvSpPr>
          <p:cNvPr id="8" name="Text 6"/>
          <p:cNvSpPr/>
          <p:nvPr/>
        </p:nvSpPr>
        <p:spPr>
          <a:xfrm>
            <a:off x="502920" y="1024128"/>
            <a:ext cx="8138160" cy="201168"/>
          </a:xfrm>
          <a:prstGeom prst="rect">
            <a:avLst/>
          </a:prstGeom>
          <a:noFill/>
          <a:ln/>
        </p:spPr>
        <p:txBody>
          <a:bodyPr wrap="square" rtlCol="0" anchor="ctr"/>
          <a:lstStyle/>
          <a:p>
            <a:pPr indent="0" marL="0">
              <a:buNone/>
            </a:pPr>
            <a:r>
              <a:rPr lang="en-US" sz="1000" b="1" dirty="0">
                <a:solidFill>
                  <a:srgbClr val="C0392B"/>
                </a:solidFill>
                <a:latin typeface="Helvetica" pitchFamily="34" charset="0"/>
                <a:ea typeface="Helvetica" pitchFamily="34" charset="-122"/>
                <a:cs typeface="Helvetica" pitchFamily="34" charset="-120"/>
              </a:rPr>
              <a:t>The Problem : File Uploads Are the #1 Attack Vector</a:t>
            </a:r>
            <a:endParaRPr lang="en-US" sz="1000" dirty="0"/>
          </a:p>
        </p:txBody>
      </p:sp>
      <p:sp>
        <p:nvSpPr>
          <p:cNvPr id="9" name="Text 7"/>
          <p:cNvSpPr/>
          <p:nvPr/>
        </p:nvSpPr>
        <p:spPr>
          <a:xfrm>
            <a:off x="502920" y="1234440"/>
            <a:ext cx="8138160" cy="201168"/>
          </a:xfrm>
          <a:prstGeom prst="rect">
            <a:avLst/>
          </a:prstGeom>
          <a:noFill/>
          <a:ln/>
        </p:spPr>
        <p:txBody>
          <a:bodyPr wrap="square" rtlCol="0" anchor="ctr"/>
          <a:lstStyle/>
          <a:p>
            <a:pPr indent="0" marL="0">
              <a:buNone/>
            </a:pPr>
            <a:r>
              <a:rPr lang="en-US" sz="900" dirty="0">
                <a:solidFill>
                  <a:srgbClr val="4A4A4A"/>
                </a:solidFill>
                <a:latin typeface="Helvetica" pitchFamily="34" charset="0"/>
                <a:ea typeface="Helvetica" pitchFamily="34" charset="-122"/>
                <a:cs typeface="Helvetica" pitchFamily="34" charset="-120"/>
              </a:rPr>
              <a:t>Extension checks are trivial to bypass (renamed .exe passes). Server-buffered bytes expose backend to resource exhaustion.</a:t>
            </a:r>
            <a:endParaRPr lang="en-US" sz="900" dirty="0"/>
          </a:p>
        </p:txBody>
      </p:sp>
      <p:sp>
        <p:nvSpPr>
          <p:cNvPr id="10" name="Text 8"/>
          <p:cNvSpPr/>
          <p:nvPr/>
        </p:nvSpPr>
        <p:spPr>
          <a:xfrm>
            <a:off x="365760" y="1645920"/>
            <a:ext cx="8412480" cy="228600"/>
          </a:xfrm>
          <a:prstGeom prst="rect">
            <a:avLst/>
          </a:prstGeom>
          <a:noFill/>
          <a:ln/>
        </p:spPr>
        <p:txBody>
          <a:bodyPr wrap="square" rtlCol="0" anchor="ctr"/>
          <a:lstStyle/>
          <a:p>
            <a:pPr indent="0" marL="0">
              <a:buNone/>
            </a:pPr>
            <a:r>
              <a:rPr lang="en-US" sz="1100" b="1" dirty="0">
                <a:solidFill>
                  <a:srgbClr val="B8963E"/>
                </a:solidFill>
                <a:latin typeface="Helvetica" pitchFamily="34" charset="0"/>
                <a:ea typeface="Helvetica" pitchFamily="34" charset="-122"/>
                <a:cs typeface="Helvetica" pitchFamily="34" charset="-120"/>
              </a:rPr>
              <a:t>Direct Upload Architecture (Zero-Byte Server Overhead)</a:t>
            </a:r>
            <a:endParaRPr lang="en-US" sz="1100" dirty="0"/>
          </a:p>
        </p:txBody>
      </p:sp>
      <p:sp>
        <p:nvSpPr>
          <p:cNvPr id="11" name="Text 9"/>
          <p:cNvSpPr/>
          <p:nvPr/>
        </p:nvSpPr>
        <p:spPr>
          <a:xfrm>
            <a:off x="457200" y="1920240"/>
            <a:ext cx="822960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① Browser ➔ API: POST /upload-sas (file size, name, type)</a:t>
            </a:r>
            <a:endParaRPr lang="en-US" sz="850" dirty="0"/>
          </a:p>
        </p:txBody>
      </p:sp>
      <p:sp>
        <p:nvSpPr>
          <p:cNvPr id="12" name="Text 10"/>
          <p:cNvSpPr/>
          <p:nvPr/>
        </p:nvSpPr>
        <p:spPr>
          <a:xfrm>
            <a:off x="457200" y="2176272"/>
            <a:ext cx="822960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② API ➔ Browser: Returns SAS URL (Write+Create, 15m expiry)</a:t>
            </a:r>
            <a:endParaRPr lang="en-US" sz="850" dirty="0"/>
          </a:p>
        </p:txBody>
      </p:sp>
      <p:sp>
        <p:nvSpPr>
          <p:cNvPr id="13" name="Text 11"/>
          <p:cNvSpPr/>
          <p:nvPr/>
        </p:nvSpPr>
        <p:spPr>
          <a:xfrm>
            <a:off x="457200" y="2432304"/>
            <a:ext cx="822960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③ Browser ➔ Azure: PUT file directly (bypasses server completely)</a:t>
            </a:r>
            <a:endParaRPr lang="en-US" sz="850" dirty="0"/>
          </a:p>
        </p:txBody>
      </p:sp>
      <p:sp>
        <p:nvSpPr>
          <p:cNvPr id="14" name="Text 12"/>
          <p:cNvSpPr/>
          <p:nvPr/>
        </p:nvSpPr>
        <p:spPr>
          <a:xfrm>
            <a:off x="457200" y="2688336"/>
            <a:ext cx="822960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④ Browser ➔ API: POST /confirm (notifies upload complete)</a:t>
            </a:r>
            <a:endParaRPr lang="en-US" sz="850" dirty="0"/>
          </a:p>
        </p:txBody>
      </p:sp>
      <p:sp>
        <p:nvSpPr>
          <p:cNvPr id="15" name="Text 13"/>
          <p:cNvSpPr/>
          <p:nvPr/>
        </p:nvSpPr>
        <p:spPr>
          <a:xfrm>
            <a:off x="457200" y="2944368"/>
            <a:ext cx="8229600" cy="228600"/>
          </a:xfrm>
          <a:prstGeom prst="rect">
            <a:avLst/>
          </a:prstGeom>
          <a:noFill/>
          <a:ln/>
        </p:spPr>
        <p:txBody>
          <a:bodyPr wrap="square" rtlCol="0" anchor="ctr"/>
          <a:lstStyle/>
          <a:p>
            <a:pPr indent="0" marL="0">
              <a:buNone/>
            </a:pPr>
            <a:r>
              <a:rPr lang="en-US" sz="850" dirty="0">
                <a:solidFill>
                  <a:srgbClr val="1A1A1A"/>
                </a:solidFill>
                <a:latin typeface="Menlo" pitchFamily="34" charset="0"/>
                <a:ea typeface="Menlo" pitchFamily="34" charset="-122"/>
                <a:cs typeface="Menlo" pitchFamily="34" charset="-120"/>
              </a:rPr>
              <a:t>⑤ API ➔ Queue: Enqueues to ImageValidationWorker</a:t>
            </a:r>
            <a:endParaRPr lang="en-US" sz="850" dirty="0"/>
          </a:p>
        </p:txBody>
      </p:sp>
      <p:sp>
        <p:nvSpPr>
          <p:cNvPr id="16" name="Shape 14"/>
          <p:cNvSpPr/>
          <p:nvPr/>
        </p:nvSpPr>
        <p:spPr>
          <a:xfrm>
            <a:off x="365760" y="3337560"/>
            <a:ext cx="4023360" cy="548640"/>
          </a:xfrm>
          <a:prstGeom prst="rect">
            <a:avLst>
              <a:gd name="adj" fmla="val 10000"/>
            </a:avLst>
          </a:prstGeom>
          <a:solidFill>
            <a:srgbClr val="F0F8F0"/>
          </a:solidFill>
          <a:ln w="9525">
            <a:solidFill>
              <a:srgbClr val="2D7D46"/>
            </a:solidFill>
            <a:prstDash val="solid"/>
          </a:ln>
        </p:spPr>
      </p:sp>
      <p:sp>
        <p:nvSpPr>
          <p:cNvPr id="17" name="Text 15"/>
          <p:cNvSpPr/>
          <p:nvPr/>
        </p:nvSpPr>
        <p:spPr>
          <a:xfrm>
            <a:off x="502920" y="3383280"/>
            <a:ext cx="3749040" cy="457200"/>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The file never touches the backend. The server only generates a time-limited SAS token and returns the upload URL. The browser PUTs the file directly to Azure Blob Storage. No server memory consumed.</a:t>
            </a:r>
            <a:endParaRPr lang="en-US" sz="800" dirty="0"/>
          </a:p>
        </p:txBody>
      </p:sp>
      <p:sp>
        <p:nvSpPr>
          <p:cNvPr id="18" name="Shape 16"/>
          <p:cNvSpPr/>
          <p:nvPr/>
        </p:nvSpPr>
        <p:spPr>
          <a:xfrm>
            <a:off x="4754880" y="3337560"/>
            <a:ext cx="4023360" cy="548640"/>
          </a:xfrm>
          <a:prstGeom prst="rect">
            <a:avLst>
              <a:gd name="adj" fmla="val 10000"/>
            </a:avLst>
          </a:prstGeom>
          <a:solidFill>
            <a:srgbClr val="FFF8E8"/>
          </a:solidFill>
          <a:ln w="9525">
            <a:solidFill>
              <a:srgbClr val="C8A84E"/>
            </a:solidFill>
            <a:prstDash val="solid"/>
          </a:ln>
        </p:spPr>
      </p:sp>
      <p:sp>
        <p:nvSpPr>
          <p:cNvPr id="19" name="Text 17"/>
          <p:cNvSpPr/>
          <p:nvPr/>
        </p:nvSpPr>
        <p:spPr>
          <a:xfrm>
            <a:off x="4892040" y="3383280"/>
            <a:ext cx="3749040" cy="457200"/>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What the SAS token prevents: If intercepted, the token grants Write+Create on ONE blob only — no Read, no List, no Delete — and expires in 15 minutes.</a:t>
            </a:r>
            <a:endParaRPr lang="en-US" sz="800" dirty="0"/>
          </a:p>
        </p:txBody>
      </p:sp>
      <p:sp>
        <p:nvSpPr>
          <p:cNvPr id="20" name="Text 18"/>
          <p:cNvSpPr/>
          <p:nvPr/>
        </p:nvSpPr>
        <p:spPr>
          <a:xfrm>
            <a:off x="365760" y="4023360"/>
            <a:ext cx="8412480" cy="228600"/>
          </a:xfrm>
          <a:prstGeom prst="rect">
            <a:avLst/>
          </a:prstGeom>
          <a:noFill/>
          <a:ln/>
        </p:spPr>
        <p:txBody>
          <a:bodyPr wrap="square" rtlCol="0" anchor="ctr"/>
          <a:lstStyle/>
          <a:p>
            <a:pPr indent="0" marL="0">
              <a:buNone/>
            </a:pPr>
            <a:r>
              <a:rPr lang="en-US" sz="1000" b="1" dirty="0">
                <a:solidFill>
                  <a:srgbClr val="B8963E"/>
                </a:solidFill>
                <a:latin typeface="Helvetica" pitchFamily="34" charset="0"/>
                <a:ea typeface="Helvetica" pitchFamily="34" charset="-122"/>
                <a:cs typeface="Helvetica" pitchFamily="34" charset="-120"/>
              </a:rPr>
              <a:t>Defense-in-Depth Layers</a:t>
            </a:r>
            <a:endParaRPr lang="en-US" sz="1000" dirty="0"/>
          </a:p>
        </p:txBody>
      </p:sp>
      <p:sp>
        <p:nvSpPr>
          <p:cNvPr id="21" name="Shape 19"/>
          <p:cNvSpPr/>
          <p:nvPr/>
        </p:nvSpPr>
        <p:spPr>
          <a:xfrm>
            <a:off x="365760" y="4297680"/>
            <a:ext cx="2651760" cy="274320"/>
          </a:xfrm>
          <a:prstGeom prst="rect">
            <a:avLst>
              <a:gd name="adj" fmla="val 13333"/>
            </a:avLst>
          </a:prstGeom>
          <a:solidFill>
            <a:srgbClr val="FFFFFF"/>
          </a:solidFill>
          <a:ln w="9525">
            <a:solidFill>
              <a:srgbClr val="E8E4DC"/>
            </a:solidFill>
            <a:prstDash val="solid"/>
          </a:ln>
        </p:spPr>
      </p:sp>
      <p:sp>
        <p:nvSpPr>
          <p:cNvPr id="22" name="Text 20"/>
          <p:cNvSpPr/>
          <p:nvPr/>
        </p:nvSpPr>
        <p:spPr>
          <a:xfrm>
            <a:off x="411480" y="431596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MIME Accept Attribute</a:t>
            </a:r>
            <a:endParaRPr lang="en-US" sz="800" dirty="0"/>
          </a:p>
        </p:txBody>
      </p:sp>
      <p:sp>
        <p:nvSpPr>
          <p:cNvPr id="23" name="Shape 21"/>
          <p:cNvSpPr/>
          <p:nvPr/>
        </p:nvSpPr>
        <p:spPr>
          <a:xfrm>
            <a:off x="3200400" y="4297680"/>
            <a:ext cx="2651760" cy="274320"/>
          </a:xfrm>
          <a:prstGeom prst="rect">
            <a:avLst>
              <a:gd name="adj" fmla="val 13333"/>
            </a:avLst>
          </a:prstGeom>
          <a:solidFill>
            <a:srgbClr val="FFFFFF"/>
          </a:solidFill>
          <a:ln w="9525">
            <a:solidFill>
              <a:srgbClr val="E8E4DC"/>
            </a:solidFill>
            <a:prstDash val="solid"/>
          </a:ln>
        </p:spPr>
      </p:sp>
      <p:sp>
        <p:nvSpPr>
          <p:cNvPr id="24" name="Text 22"/>
          <p:cNvSpPr/>
          <p:nvPr/>
        </p:nvSpPr>
        <p:spPr>
          <a:xfrm>
            <a:off x="3246120" y="431596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Extension Whitelist</a:t>
            </a:r>
            <a:endParaRPr lang="en-US" sz="800" dirty="0"/>
          </a:p>
        </p:txBody>
      </p:sp>
      <p:sp>
        <p:nvSpPr>
          <p:cNvPr id="25" name="Shape 23"/>
          <p:cNvSpPr/>
          <p:nvPr/>
        </p:nvSpPr>
        <p:spPr>
          <a:xfrm>
            <a:off x="6035040" y="4297680"/>
            <a:ext cx="2651760" cy="274320"/>
          </a:xfrm>
          <a:prstGeom prst="rect">
            <a:avLst>
              <a:gd name="adj" fmla="val 13333"/>
            </a:avLst>
          </a:prstGeom>
          <a:solidFill>
            <a:srgbClr val="FFFFFF"/>
          </a:solidFill>
          <a:ln w="9525">
            <a:solidFill>
              <a:srgbClr val="E8E4DC"/>
            </a:solidFill>
            <a:prstDash val="solid"/>
          </a:ln>
        </p:spPr>
      </p:sp>
      <p:sp>
        <p:nvSpPr>
          <p:cNvPr id="26" name="Text 24"/>
          <p:cNvSpPr/>
          <p:nvPr/>
        </p:nvSpPr>
        <p:spPr>
          <a:xfrm>
            <a:off x="6080760" y="431596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Size Limit: 10MB Max</a:t>
            </a:r>
            <a:endParaRPr lang="en-US" sz="800" dirty="0"/>
          </a:p>
        </p:txBody>
      </p:sp>
      <p:sp>
        <p:nvSpPr>
          <p:cNvPr id="27" name="Shape 25"/>
          <p:cNvSpPr/>
          <p:nvPr/>
        </p:nvSpPr>
        <p:spPr>
          <a:xfrm>
            <a:off x="365760" y="4617720"/>
            <a:ext cx="2651760" cy="274320"/>
          </a:xfrm>
          <a:prstGeom prst="rect">
            <a:avLst>
              <a:gd name="adj" fmla="val 13333"/>
            </a:avLst>
          </a:prstGeom>
          <a:solidFill>
            <a:srgbClr val="FFFFFF"/>
          </a:solidFill>
          <a:ln w="9525">
            <a:solidFill>
              <a:srgbClr val="E8E4DC"/>
            </a:solidFill>
            <a:prstDash val="solid"/>
          </a:ln>
        </p:spPr>
      </p:sp>
      <p:sp>
        <p:nvSpPr>
          <p:cNvPr id="28" name="Text 26"/>
          <p:cNvSpPr/>
          <p:nvPr/>
        </p:nvSpPr>
        <p:spPr>
          <a:xfrm>
            <a:off x="411480" y="463600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SAS URL: 15-Min Expiry</a:t>
            </a:r>
            <a:endParaRPr lang="en-US" sz="800" dirty="0"/>
          </a:p>
        </p:txBody>
      </p:sp>
      <p:sp>
        <p:nvSpPr>
          <p:cNvPr id="29" name="Shape 27"/>
          <p:cNvSpPr/>
          <p:nvPr/>
        </p:nvSpPr>
        <p:spPr>
          <a:xfrm>
            <a:off x="3200400" y="4617720"/>
            <a:ext cx="2651760" cy="274320"/>
          </a:xfrm>
          <a:prstGeom prst="rect">
            <a:avLst>
              <a:gd name="adj" fmla="val 13333"/>
            </a:avLst>
          </a:prstGeom>
          <a:solidFill>
            <a:srgbClr val="FFFFFF"/>
          </a:solidFill>
          <a:ln w="9525">
            <a:solidFill>
              <a:srgbClr val="E8E4DC"/>
            </a:solidFill>
            <a:prstDash val="solid"/>
          </a:ln>
        </p:spPr>
      </p:sp>
      <p:sp>
        <p:nvSpPr>
          <p:cNvPr id="30" name="Text 28"/>
          <p:cNvSpPr/>
          <p:nvPr/>
        </p:nvSpPr>
        <p:spPr>
          <a:xfrm>
            <a:off x="3246120" y="463600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SAS: Write+Create Only</a:t>
            </a:r>
            <a:endParaRPr lang="en-US" sz="800" dirty="0"/>
          </a:p>
        </p:txBody>
      </p:sp>
      <p:sp>
        <p:nvSpPr>
          <p:cNvPr id="31" name="Shape 29"/>
          <p:cNvSpPr/>
          <p:nvPr/>
        </p:nvSpPr>
        <p:spPr>
          <a:xfrm>
            <a:off x="6035040" y="4617720"/>
            <a:ext cx="2651760" cy="274320"/>
          </a:xfrm>
          <a:prstGeom prst="rect">
            <a:avLst>
              <a:gd name="adj" fmla="val 13333"/>
            </a:avLst>
          </a:prstGeom>
          <a:solidFill>
            <a:srgbClr val="FFFFFF"/>
          </a:solidFill>
          <a:ln w="9525">
            <a:solidFill>
              <a:srgbClr val="E8E4DC"/>
            </a:solidFill>
            <a:prstDash val="solid"/>
          </a:ln>
        </p:spPr>
      </p:sp>
      <p:sp>
        <p:nvSpPr>
          <p:cNvPr id="32" name="Text 30"/>
          <p:cNvSpPr/>
          <p:nvPr/>
        </p:nvSpPr>
        <p:spPr>
          <a:xfrm>
            <a:off x="6080760" y="463600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Ownership Check</a:t>
            </a:r>
            <a:endParaRPr lang="en-US" sz="800" dirty="0"/>
          </a:p>
        </p:txBody>
      </p:sp>
      <p:sp>
        <p:nvSpPr>
          <p:cNvPr id="33" name="Shape 31"/>
          <p:cNvSpPr/>
          <p:nvPr/>
        </p:nvSpPr>
        <p:spPr>
          <a:xfrm>
            <a:off x="365760" y="4937760"/>
            <a:ext cx="2651760" cy="274320"/>
          </a:xfrm>
          <a:prstGeom prst="rect">
            <a:avLst>
              <a:gd name="adj" fmla="val 13333"/>
            </a:avLst>
          </a:prstGeom>
          <a:solidFill>
            <a:srgbClr val="FFFFFF"/>
          </a:solidFill>
          <a:ln w="9525">
            <a:solidFill>
              <a:srgbClr val="E8E4DC"/>
            </a:solidFill>
            <a:prstDash val="solid"/>
          </a:ln>
        </p:spPr>
      </p:sp>
      <p:sp>
        <p:nvSpPr>
          <p:cNvPr id="34" name="Text 32"/>
          <p:cNvSpPr/>
          <p:nvPr/>
        </p:nvSpPr>
        <p:spPr>
          <a:xfrm>
            <a:off x="411480" y="495604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Magic Byte Validation</a:t>
            </a:r>
            <a:endParaRPr lang="en-US" sz="800" dirty="0"/>
          </a:p>
        </p:txBody>
      </p:sp>
      <p:sp>
        <p:nvSpPr>
          <p:cNvPr id="35" name="Shape 33"/>
          <p:cNvSpPr/>
          <p:nvPr/>
        </p:nvSpPr>
        <p:spPr>
          <a:xfrm>
            <a:off x="3200400" y="4937760"/>
            <a:ext cx="2651760" cy="274320"/>
          </a:xfrm>
          <a:prstGeom prst="rect">
            <a:avLst>
              <a:gd name="adj" fmla="val 13333"/>
            </a:avLst>
          </a:prstGeom>
          <a:solidFill>
            <a:srgbClr val="FFFFFF"/>
          </a:solidFill>
          <a:ln w="9525">
            <a:solidFill>
              <a:srgbClr val="E8E4DC"/>
            </a:solidFill>
            <a:prstDash val="solid"/>
          </a:ln>
        </p:spPr>
      </p:sp>
      <p:sp>
        <p:nvSpPr>
          <p:cNvPr id="36" name="Text 34"/>
          <p:cNvSpPr/>
          <p:nvPr/>
        </p:nvSpPr>
        <p:spPr>
          <a:xfrm>
            <a:off x="3246120" y="495604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Post-Upload Verification</a:t>
            </a:r>
            <a:endParaRPr lang="en-US" sz="800" dirty="0"/>
          </a:p>
        </p:txBody>
      </p:sp>
      <p:sp>
        <p:nvSpPr>
          <p:cNvPr id="37" name="Shape 35"/>
          <p:cNvSpPr/>
          <p:nvPr/>
        </p:nvSpPr>
        <p:spPr>
          <a:xfrm>
            <a:off x="6035040" y="4937760"/>
            <a:ext cx="2651760" cy="274320"/>
          </a:xfrm>
          <a:prstGeom prst="rect">
            <a:avLst>
              <a:gd name="adj" fmla="val 13333"/>
            </a:avLst>
          </a:prstGeom>
          <a:solidFill>
            <a:srgbClr val="FFFFFF"/>
          </a:solidFill>
          <a:ln w="9525">
            <a:solidFill>
              <a:srgbClr val="E8E4DC"/>
            </a:solidFill>
            <a:prstDash val="solid"/>
          </a:ln>
        </p:spPr>
      </p:sp>
      <p:sp>
        <p:nvSpPr>
          <p:cNvPr id="38" name="Text 36"/>
          <p:cNvSpPr/>
          <p:nvPr/>
        </p:nvSpPr>
        <p:spPr>
          <a:xfrm>
            <a:off x="6080760" y="4956048"/>
            <a:ext cx="2560320" cy="237744"/>
          </a:xfrm>
          <a:prstGeom prst="rect">
            <a:avLst/>
          </a:prstGeom>
          <a:noFill/>
          <a:ln/>
        </p:spPr>
        <p:txBody>
          <a:bodyPr wrap="square" rtlCol="0" anchor="ctr"/>
          <a:lstStyle/>
          <a:p>
            <a:pPr indent="0" marL="0">
              <a:buNone/>
            </a:pPr>
            <a:r>
              <a:rPr lang="en-US" sz="800" dirty="0">
                <a:solidFill>
                  <a:srgbClr val="4A4A4A"/>
                </a:solidFill>
                <a:latin typeface="Helvetica" pitchFamily="34" charset="0"/>
                <a:ea typeface="Helvetica" pitchFamily="34" charset="-122"/>
                <a:cs typeface="Helvetica" pitchFamily="34" charset="-120"/>
              </a:rPr>
              <a:t>3 Cleanup Workers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Aetheris — The Unified Hotel Operating System</dc:title>
  <dc:subject>v1 Light Replica</dc:subject>
  <dc:creator>Aetheris</dc:creator>
  <cp:lastModifiedBy>Aetheris</cp:lastModifiedBy>
  <cp:revision>1</cp:revision>
  <dcterms:created xsi:type="dcterms:W3CDTF">2026-07-23T16:23:20Z</dcterms:created>
  <dcterms:modified xsi:type="dcterms:W3CDTF">2026-07-23T16:23:20Z</dcterms:modified>
</cp:coreProperties>
</file>
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" y="36576"/>
            <a:ext cx="9070848" cy="5070348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Unified Hotel Operating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194560"/>
            <a:ext cx="36576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Security-First Architecture  •  AI-Powered Operations  •  Real-Time Coordination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Magic Byte Validation to LLM-Powered Concierge — A Full-Stack Engineering Showcase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Problems to Solutions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Hotel Software Fails — The Real Problems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Aetheris Platform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Zero-Trust Image Upload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Byte Validation — Content-Level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 Architecture &amp; Multi-Tier Cleanup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Concierge — Real Action Execution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78308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Proposal Pattern — Taming LLM Hallucination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Operations — SignalR Ecosystem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Engineering Foundations — Idempotency, Audit, RBAC, Quality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703320"/>
            <a:ext cx="320040" cy="32004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Impact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Broken State of Hotel Tech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hotel software is a collection of disconnected tools held together by phone calls and spreadsheets.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234440"/>
          </a:xfrm>
          <a:prstGeom prst="rect">
            <a:avLst>
              <a:gd name="adj" fmla="val 5926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Vulnerabilities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uploads accept any extension — renamed malware passes through. No content verification. Your server buffers every file.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234440"/>
          </a:xfrm>
          <a:prstGeom prst="rect">
            <a:avLst>
              <a:gd name="adj" fmla="val 5926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Guest Self-Service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Guests call the front desk for everything — towels, food, maintenance questions. 24/7 support is impossible.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023360" cy="1234440"/>
          </a:xfrm>
          <a:prstGeom prst="rect">
            <a:avLst>
              <a:gd name="adj" fmla="val 5926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Siloed Departments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620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Housekeeping doesn't know about checkout until someone calls. Kitchen doesn't see orders until they check the printer. Maintenance loses paper tickets.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4023360" cy="1234440"/>
          </a:xfrm>
          <a:prstGeom prst="rect">
            <a:avLst>
              <a:gd name="adj" fmla="val 5926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51460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87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Fragile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620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idempotency = double-bookings from double-clicks. No audit trail = billing disputes unprovable. No real-time = stale dashboards.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7320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"Generic hotel software manages records. Aetheris runs operations."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Aetheris — Platform Overview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Angular 22 (SPA, Signals, Material)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REST + SignalR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103120" y="128930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4E"/>
                </a:solidFill>
              </a:rPr>
              <a:t>▼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51960" y="99669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4E"/>
                </a:solidFill>
              </a:rPr>
              <a:t>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99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ASP.NET Core 10 API (16 Controllers)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70078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4E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0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BLL Services (19 services, 5 workers)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11226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4E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21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Generic Repository Layer (13 repos)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52374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4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51960" y="223113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4E"/>
                </a:solidFill>
              </a:rPr>
              <a:t>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EF Core PostgreSQL (18 entities, JSONB)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3522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4E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3840480" cy="347472"/>
          </a:xfrm>
          <a:prstGeom prst="rect">
            <a:avLst>
              <a:gd name="adj" fmla="val 13158"/>
            </a:avLst>
          </a:prstGeom>
          <a:solidFill>
            <a:srgbClr val="FFF8E8"/>
          </a:solidFill>
          <a:ln w="19050">
            <a:solidFill>
              <a:srgbClr val="C8A8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44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Azure Infrastructure: Blob, Queue, Container Apps, ACR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784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User Roles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1612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Admin, FrontDesk, Guest, Kitchen, Housekeeping, 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41148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481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Angular Route Guards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Defense in depth — role-based SPA access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965960"/>
            <a:ext cx="41148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842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~60 API Endpoints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167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REST coverage across 16 controllers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468880"/>
            <a:ext cx="41148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871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Angular 22 + Signals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670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Fine-grained reactivity, no Zone.js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41148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990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729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Warnings as Errors — production-grade C#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8412480" cy="777240"/>
          </a:xfrm>
          <a:prstGeom prst="rect">
            <a:avLst>
              <a:gd name="adj" fmla="val 7059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6576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N-Tier Architecture with Strict Dependency Direction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39319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→ BLL → Repository → DAL. Layers enforce separation at the .csproj level. EF Core lives only in DAL — swap persistence without touching business logic.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File Uploads Are the #1 Attack Vector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914400"/>
          </a:xfrm>
          <a:prstGeom prst="rect">
            <a:avLst>
              <a:gd name="adj" fmla="val 8000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Extension-only checks are trivial to bypass. A renamed .exe passes. Your server buffers every byte. Orphaned blobs accumulate and cost money.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Solution: Direct-to-Azure Upload with SAS Tokens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97280"/>
          </a:xfrm>
          <a:prstGeom prst="rect">
            <a:avLst>
              <a:gd name="adj" fmla="val 5000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[Browser] ──PUT──▶ [Azure Blob Storage]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▲                           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│ POST /upload-sas           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│ SAS URL (Write+Create)     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│ 15min expiry                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[ASP.NET Core] ──────────────── 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Defense-in-Depth Layers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MIME accept attribute (browser hint)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Extension whitelist (.jpg/.jpeg/.png/.webp)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Size limit: 10MB max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SAS URL: 15-minute expiry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429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SAS permissions: Write+Create only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Ownership check: only uploader can confirm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Magic byte validation (next slide)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Post-upload size verification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3154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3 cleanup workers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457200"/>
          </a:xfrm>
          <a:prstGeom prst="rect">
            <a:avLst>
              <a:gd name="adj" fmla="val 12000"/>
            </a:avLst>
          </a:prstGeom>
          <a:solidFill>
            <a:srgbClr val="F0F8F0"/>
          </a:solidFill>
          <a:ln w="6350">
            <a:solidFill>
              <a:srgbClr val="2D7D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file never passes through the backend. No server memory or bandwidth consumed."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Byte Validation — Beyond Extension Checking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685800"/>
          </a:xfrm>
          <a:prstGeom prst="rect">
            <a:avLst>
              <a:gd name="adj" fmla="val 10667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file named image.jpg with executable content passes every extension check. Most systems stop here.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685800"/>
          </a:xfrm>
          <a:prstGeom prst="rect">
            <a:avLst>
              <a:gd name="adj" fmla="val 10667"/>
            </a:avLst>
          </a:prstGeom>
          <a:solidFill>
            <a:srgbClr val="F0F8F0"/>
          </a:solidFill>
          <a:ln w="6350">
            <a:solidFill>
              <a:srgbClr val="2D7D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960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the actual binary header and validate against known file signatures.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Format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Magic Bytes (Hex)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Validation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JPEG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FF D8 FF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First 3 bytes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PNG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89 50 4E 47 0D 0A 1A 0A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Full 8-byte signature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WebP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52 49 46 46 .... 57 45 42 50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RIFF + WEBP marker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2743200"/>
            <a:ext cx="8412480" cy="1188720"/>
          </a:xfrm>
          <a:prstGeom prst="rect">
            <a:avLst>
              <a:gd name="adj" fmla="val 4615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889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Reads first 512 bytes from blob. No trusting file extensions.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 header = new byte[512];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 blob.DownloadToAsync(header);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(!IsValidMagicBytes(header, declaredExtension))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await blob.DeleteAsync(); // Reject + delete immediately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session.Status = UploadStatus.Rejected;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session.RejectionReason = $"Magic byte mismatch for {declaredExtension}";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same technique security scanners use to detect disguised executables. Enterprise-grade content validation in a hotel system.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Processing &amp; Storage Economics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 shouldn't block HTTP requests. Orphaned blobs cost money.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63040"/>
          </a:xfrm>
          <a:prstGeom prst="rect">
            <a:avLst>
              <a:gd name="adj" fmla="val 3750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[POST /confirm] → [Azure Queue] → [ImageValidationWorker]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┌─────────────────┼─────────────────┐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▼                 ▼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Magic Bytes        Size Verify      Reject/Delete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│                 │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└─────────────────┼─────────────────┘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┌─────────────────────┐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│ Status: Confirmed   │  Status: Rejected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│ Blob Kept           │  Blob Deleted + Reason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└─────────────────────┘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2606040"/>
            <a:ext cx="274320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606040"/>
            <a:ext cx="27432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697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ImageValidationWorker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Queue-triggered, 2s poll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bytes + size check. Valid → Confirmed. Invalid → delete blob + record rejection.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2606040"/>
            <a:ext cx="274320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06040"/>
            <a:ext cx="27432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97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OrphanImageCleanupWorker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Hourly cron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Expires stale Pending (&gt;1h) and unattached Confirmed (&gt;24h) sessions. Deletes orphaned blobs.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274320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606040"/>
            <a:ext cx="274320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697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BlobCleanupWorker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2880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Hourly + on startup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container scan — cross-references ALL blobs against UploadSessions + entity URL fields.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731520"/>
          </a:xfrm>
          <a:prstGeom prst="rect">
            <a:avLst>
              <a:gd name="adj" fmla="val 7500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050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State Machine:  Pending → Confirmed → Attached → [Entity retains URL]    |    Pending → Rejected → [Blob deleted]    |    Any → Expired [Auto-cleanup]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overlapping workers ensure zero storage leaks. Defense in depth for your Azure bill.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Guests Need 24/7 Service. Staff Can't Be Everywhere.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Guests call the front desk for every request — extra towels, food orders, maintenance issues. At 2 AM, there's no one to call.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Solution: Aetheris AI Concierge — Powered by OpenAI gpt-4o-mini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097280"/>
          </a:xfrm>
          <a:prstGeom prst="rect">
            <a:avLst>
              <a:gd name="adj" fmla="val 5000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[Guest Chat UI] ──▶ [ASP.NET Core API] ──▶ [Concierge Orchestrator]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     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┌────────────────────────────┼────────────────────────────┐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▼                            ▼           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[OpenAI gpt-4o-mini]          [Tool Executor]             [SignalR Broadcast]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8 function tools           Centralized dispatch          Kitchen / Housekeeping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             to existing BLL services       / Maintenance groups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8 Function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23360" cy="1463040"/>
          </a:xfrm>
          <a:prstGeom prst="rect">
            <a:avLst>
              <a:gd name="adj" fmla="val 3750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Side-Effect Tools (Need Confirmation)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create_food_order — Place room service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create_housekeeping_request — Towels, cleaning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create_maintenance_ticket — AC, plumbing, TV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4023360" cy="146304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Read-Only Tools (Execute Immediately)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get_booking_info — Check-in/out, room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3474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get_folio_balance — Current bill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3749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get_housekeeping_status — Room status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get_menu_items — Browse menu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4297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get_active_orders — Current orders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365760"/>
          </a:xfrm>
          <a:prstGeom prst="rect">
            <a:avLst>
              <a:gd name="adj" fmla="val 15000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new business logic. The concierge reuses existing OrderService, HousekeepingService, MaintenanceService — the same services the staff dashboards use. When the AI places a food order, the Kitchen dashboard lights up in real-time via SignalR.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 Pattern — AI That Acts, But Doesn't Assume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4023360" cy="594360"/>
          </a:xfrm>
          <a:prstGeom prst="rect">
            <a:avLst>
              <a:gd name="adj" fmla="val 9231"/>
            </a:avLst>
          </a:prstGeom>
          <a:solidFill>
            <a:srgbClr val="FFF5F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LLMs hallucinate. They execute tools confidently but incorrectly. A chatbot that can place orders without confirmation is dangerous.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594360"/>
          </a:xfrm>
          <a:prstGeom prst="rect">
            <a:avLst>
              <a:gd name="adj" fmla="val 9231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68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Solution: Two-Step Action Pattern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Read-only tools execute immediately. Side-effect tools require explicit guest confirmation.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4023360" cy="2286000"/>
          </a:xfrm>
          <a:prstGeom prst="rect">
            <a:avLst>
              <a:gd name="adj" fmla="val 2400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 1: Guest types "I need a burger and extra towels"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LLM calls tools → System creates PROPOSALS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(pending state, 5-minute TTL)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Guest sees: "Proposed: Order Burger ×1,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Housekeeping: Extra towels"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[Confirm &amp; Execute] button presented in chat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Step 2: Guest taps Confirm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│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▼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Proposals executed → BLL services called</a:t>
            </a:r>
            <a:endParaRPr lang="en-US" sz="7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→ SignalR alerts fired → AI replies with confirmation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Defense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Proposal TTL: 5 minutes — auto-expires if not confirmed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Prompt injection sanitizer: Strips ignore previous, system:, assistant: patterns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Guest context scoping: Booking ID, room ID never exposed to LLM — resolved server-side from JWT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Max 5 tool calls per turn: Prevents runaway LLM loops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Per-turn idempotency: Duplicate LLM calls never double-execute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Full audit trail: Every tool call logged with arguments + outcome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"Read-only tools execute immediately. Side-effect tools require confirmation. The guest stays in control. The AI executes precisely."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Departments Operate in Silos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Without real-time alerts: Housekeeping doesn't know a room is dirty. Kitchen doesn't see new orders. Maintenance misses urgent tickets.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Solution: Role-Based SignalR Broadcasting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Event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Department Alerted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Result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Guest checks out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HousekeepingGroup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Room cleaning task auto-created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Guest orders food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KitchenGroup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Order appears on kitchen dashboard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Guest reports issue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MaintenanceGroup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Ticket created, emergency flag if needed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468880"/>
            <a:ext cx="4023360" cy="1463040"/>
          </a:xfrm>
          <a:prstGeom prst="rect">
            <a:avLst>
              <a:gd name="adj" fmla="val 3750"/>
            </a:avLst>
          </a:prstGeom>
          <a:solidFill>
            <a:srgbClr val="F8F6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514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 Architecture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272491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User authenticates → receives JWT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Frontend connects: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HubConnection("/notifications?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access_token={jwt}")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Server reads user role from claims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Server: Groups.AddToGroupAsync(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Context, role + "Group")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 Connection: withAutomaticReconnect()</a:t>
            </a:r>
            <a:endParaRPr lang="en-US" sz="7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— retries 0s, 2s, 10s, 30s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754880" y="2468880"/>
            <a:ext cx="402336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2514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Reactive Frontend 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2040" y="2788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 receives events as RxJS streams → glassmorphism toast notifications with auto-stacking → dashboards refresh in real-time. No polling. No page refreshes. Zero configuration per event type.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4160520"/>
            <a:ext cx="8412480" cy="457200"/>
          </a:xfrm>
          <a:prstGeom prst="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9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[HousekeepingGroup] Task Active    [KitchenGroup] Food Order #204    [MaintenanceGroup] Emergency Ticket    Just now via Notifications Hub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Excellence — The Safety Net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05840"/>
            <a:ext cx="365760" cy="36576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Idempotency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mutation carries X-Idempotency-Key. Duplicates detected → original response replayed from DB. Race conditions handled via PK conflict (first writer wins). Cleanup every 6 hours (48h TTL). Prevents: double-bookings, double-charges, duplicate order processing.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005840"/>
            <a:ext cx="365760" cy="36576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8755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Audit Logging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4173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SaveChangesAsync() override captures every entity change — old values + new values stored as PostgreSQL JSONB. Zero developer effort. Covers all 18 entity types. Self-auditing (audit logs audit themselves). Forensic traceability for billing disputes.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97480"/>
            <a:ext cx="365760" cy="36576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679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6-Role RBAC — Defense in Depth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1089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4-layer security model: Frontend Route Guards → Backend Authorize → BLL Service Checks → Repository Query Scoping. 16 protected controllers, 7 Angular route guards. Role-specific shells for Admin, FrontDesk, Guest, Kitchen, Housekeeping, Maintenance.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697480"/>
            <a:ext cx="365760" cy="365760"/>
          </a:xfrm>
          <a:prstGeom prst="ellipse">
            <a:avLst/>
          </a:prstGeom>
          <a:solidFill>
            <a:srgbClr val="C8A84E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679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31089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 unit tests (93% BLL coverage via NUnit + Moq). Static analysis: latest-All rules, warnings are errors. 47 EF Core migrations with Up()/Down() reversibility. Generic Repository + Generic CRUD component = 0 duplicated data access or management UI code.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"These aren't nice-to-haves. They're what prevent 3 AM production calls."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Problems to Transformation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011680" cy="32004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Problems →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uploads are dangerous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148840" y="1051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Zero-trust pipeline with magic byte validation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Guests call for everything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148840" y="1417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concierge handles 24/7 inquiries, 8 action types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Departments don't coordinate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4884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SignalR alerts across 3 groups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Double-clicks cause chaos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488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Idempotency prevents every duplicate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change history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148840" y="2514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2514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JSONB audit trail on all 18 entities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411480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spreadsheets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48840" y="2880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automated KPIs (Occupancy, RevPAR, ADR, etc.)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54880" y="777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Image transformation pipeline (auto-resize, optimize)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CDN integration (Azure Front Door)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Multilingual AI concierge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Voice input for concierge (Web Speech API → STT)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Proactive AI nudges ("It's 7:30 AM — your usual latte?")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Mobile native apps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337560"/>
            <a:ext cx="1554480" cy="868680"/>
          </a:xfrm>
          <a:prstGeom prst="rect">
            <a:avLst>
              <a:gd name="adj" fmla="val 6316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3649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~801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6576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Files Managed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03120" y="3337560"/>
            <a:ext cx="1554480" cy="868680"/>
          </a:xfrm>
          <a:prstGeom prst="rect">
            <a:avLst>
              <a:gd name="adj" fmla="val 6316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3649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10312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Symbols Integrated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40480" y="3337560"/>
            <a:ext cx="1554480" cy="868680"/>
          </a:xfrm>
          <a:prstGeom prst="rect">
            <a:avLst>
              <a:gd name="adj" fmla="val 6316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33649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84048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Execution Flows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77840" y="3337560"/>
            <a:ext cx="1554480" cy="868680"/>
          </a:xfrm>
          <a:prstGeom prst="rect">
            <a:avLst>
              <a:gd name="adj" fmla="val 6316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3649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6-Tier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57784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Multi-Role System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15200" y="3337560"/>
            <a:ext cx="1554480" cy="868680"/>
          </a:xfrm>
          <a:prstGeom prst="rect">
            <a:avLst>
              <a:gd name="adj" fmla="val 6316"/>
            </a:avLst>
          </a:prstGeom>
          <a:solidFill>
            <a:srgbClr val="FFF8E8"/>
          </a:solidFill>
          <a:ln w="9525">
            <a:solidFill>
              <a:srgbClr val="C8A8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33649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Mos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31520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Speed to Delivery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" y="36576"/>
            <a:ext cx="9070848" cy="5070348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discuss how Aetheris can transform your hotel operations.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your@email.com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github.com/yourhandle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Aetheris — Built with Angular 22  •  ASP.NET Core 10  •  PostgreSQL  •  Azure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4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&amp; PROPRIETARY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Aetheris — The Unified Hotel Operating System</dc:title>
  <dc:subject>v2 Light Replica</dc:subject>
  <dc:creator>Aetheris</dc:creator>
  <cp:lastModifiedBy>Aetheris</cp:lastModifiedBy>
  <cp:revision>1</cp:revision>
  <dcterms:created xsi:type="dcterms:W3CDTF">2026-07-23T16:31:54Z</dcterms:created>
  <dcterms:modified xsi:type="dcterms:W3CDTF">2026-07-23T16:31:54Z</dcterms:modified>
</cp:coreProperties>
</file>